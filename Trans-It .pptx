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mo Bold" charset="1" panose="020B0704020202020204"/>
      <p:regular r:id="rId22"/>
    </p:embeddedFont>
    <p:embeddedFont>
      <p:font typeface="Fira Sans" charset="1" panose="020B0503050000020004"/>
      <p:regular r:id="rId23"/>
    </p:embeddedFont>
    <p:embeddedFont>
      <p:font typeface="Arimo" charset="1" panose="020B0604020202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2" Target="../notesSlides/notesSlide6.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2" Target="../notesSlides/notesSlide7.xml" Type="http://schemas.openxmlformats.org/officeDocument/2006/relationships/notesSlid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0.png" Type="http://schemas.openxmlformats.org/officeDocument/2006/relationships/image"/><Relationship Id="rId4"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https://transit.ze4.me" TargetMode="External" Type="http://schemas.openxmlformats.org/officeDocument/2006/relationships/hyperlink"/><Relationship Id="rId4" Target="https://github.com/ujangPNG/trans-it"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2.png" Type="http://schemas.openxmlformats.org/officeDocument/2006/relationships/image"/><Relationship Id="rId4" Target="https://transit.ze4.me" TargetMode="External" Type="http://schemas.openxmlformats.org/officeDocument/2006/relationships/hyperlink"/><Relationship Id="rId5" Target="../media/image43.png" Type="http://schemas.openxmlformats.org/officeDocument/2006/relationships/image"/><Relationship Id="rId6" Target="https://github.com/ujangPNG/trans-it" TargetMode="External" Type="http://schemas.openxmlformats.org/officeDocument/2006/relationships/hyperlink"/><Relationship Id="rId7" Target="../media/image4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3052172"/>
            <a:ext cx="7088238"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Trans-It</a:t>
            </a:r>
          </a:p>
        </p:txBody>
      </p:sp>
      <p:sp>
        <p:nvSpPr>
          <p:cNvPr name="TextBox 8" id="8"/>
          <p:cNvSpPr txBox="true"/>
          <p:nvPr/>
        </p:nvSpPr>
        <p:spPr>
          <a:xfrm rot="0">
            <a:off x="7850238" y="4070594"/>
            <a:ext cx="9445523" cy="1455534"/>
          </a:xfrm>
          <a:prstGeom prst="rect">
            <a:avLst/>
          </a:prstGeom>
        </p:spPr>
        <p:txBody>
          <a:bodyPr anchor="t" rtlCol="false" tIns="0" lIns="0" bIns="0" rIns="0">
            <a:spAutoFit/>
          </a:bodyPr>
          <a:lstStyle/>
          <a:p>
            <a:pPr algn="l">
              <a:lnSpc>
                <a:spcPts val="5562"/>
              </a:lnSpc>
            </a:pPr>
            <a:r>
              <a:rPr lang="en-US" sz="4437" b="true">
                <a:solidFill>
                  <a:srgbClr val="F94CAF"/>
                </a:solidFill>
                <a:latin typeface="Arimo Bold"/>
                <a:ea typeface="Arimo Bold"/>
                <a:cs typeface="Arimo Bold"/>
                <a:sym typeface="Arimo Bold"/>
              </a:rPr>
              <a:t>Solusi Navigasi TransJakarta Termurah (Fare-Aware Routing)</a:t>
            </a:r>
          </a:p>
        </p:txBody>
      </p:sp>
      <p:sp>
        <p:nvSpPr>
          <p:cNvPr name="TextBox 9" id="9"/>
          <p:cNvSpPr txBox="true"/>
          <p:nvPr/>
        </p:nvSpPr>
        <p:spPr>
          <a:xfrm rot="0">
            <a:off x="7850238" y="5856084"/>
            <a:ext cx="9445523"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Juang Danovadil Faomasi Zebua | SMK Prestasi Prima</a:t>
            </a:r>
          </a:p>
        </p:txBody>
      </p:sp>
      <p:sp>
        <p:nvSpPr>
          <p:cNvPr name="TextBox 10" id="10"/>
          <p:cNvSpPr txBox="true"/>
          <p:nvPr/>
        </p:nvSpPr>
        <p:spPr>
          <a:xfrm rot="0">
            <a:off x="7850238" y="6628657"/>
            <a:ext cx="9445523"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TRASPAC IT COMPETITION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1218162"/>
            <a:ext cx="8150276"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Kenapa Trans-It Dibuat?</a:t>
            </a:r>
          </a:p>
        </p:txBody>
      </p:sp>
      <p:grpSp>
        <p:nvGrpSpPr>
          <p:cNvPr name="Group 8" id="8"/>
          <p:cNvGrpSpPr/>
          <p:nvPr/>
        </p:nvGrpSpPr>
        <p:grpSpPr>
          <a:xfrm rot="0">
            <a:off x="7831188" y="2567435"/>
            <a:ext cx="4619034" cy="3108874"/>
            <a:chOff x="0" y="0"/>
            <a:chExt cx="6158713" cy="4145166"/>
          </a:xfrm>
        </p:grpSpPr>
        <p:sp>
          <p:nvSpPr>
            <p:cNvPr name="Freeform 9" id="9"/>
            <p:cNvSpPr/>
            <p:nvPr/>
          </p:nvSpPr>
          <p:spPr>
            <a:xfrm flipH="false" flipV="false" rot="0">
              <a:off x="25400" y="25400"/>
              <a:ext cx="6107938" cy="4094353"/>
            </a:xfrm>
            <a:custGeom>
              <a:avLst/>
              <a:gdLst/>
              <a:ahLst/>
              <a:cxnLst/>
              <a:rect r="r" b="b" t="t" l="l"/>
              <a:pathLst>
                <a:path h="4094353" w="6107938">
                  <a:moveTo>
                    <a:pt x="0" y="243840"/>
                  </a:moveTo>
                  <a:cubicBezTo>
                    <a:pt x="0" y="109220"/>
                    <a:pt x="109601" y="0"/>
                    <a:pt x="244856" y="0"/>
                  </a:cubicBezTo>
                  <a:lnTo>
                    <a:pt x="5863082" y="0"/>
                  </a:lnTo>
                  <a:cubicBezTo>
                    <a:pt x="5998337" y="0"/>
                    <a:pt x="6107938" y="109220"/>
                    <a:pt x="6107938" y="243840"/>
                  </a:cubicBezTo>
                  <a:lnTo>
                    <a:pt x="6107938" y="3850513"/>
                  </a:lnTo>
                  <a:cubicBezTo>
                    <a:pt x="6107938" y="3985133"/>
                    <a:pt x="5998337" y="4094353"/>
                    <a:pt x="5863082" y="4094353"/>
                  </a:cubicBezTo>
                  <a:lnTo>
                    <a:pt x="244856" y="4094353"/>
                  </a:lnTo>
                  <a:cubicBezTo>
                    <a:pt x="109601" y="4094353"/>
                    <a:pt x="0" y="3985133"/>
                    <a:pt x="0" y="3850513"/>
                  </a:cubicBezTo>
                  <a:close/>
                </a:path>
              </a:pathLst>
            </a:custGeom>
            <a:solidFill>
              <a:srgbClr val="241631"/>
            </a:solidFill>
            <a:ln w="12700">
              <a:solidFill>
                <a:srgbClr val="000000"/>
              </a:solidFill>
            </a:ln>
          </p:spPr>
        </p:sp>
        <p:sp>
          <p:nvSpPr>
            <p:cNvPr name="Freeform 10" id="10"/>
            <p:cNvSpPr/>
            <p:nvPr/>
          </p:nvSpPr>
          <p:spPr>
            <a:xfrm flipH="false" flipV="false" rot="0">
              <a:off x="0" y="0"/>
              <a:ext cx="6158738" cy="4145153"/>
            </a:xfrm>
            <a:custGeom>
              <a:avLst/>
              <a:gdLst/>
              <a:ahLst/>
              <a:cxnLst/>
              <a:rect r="r" b="b" t="t" l="l"/>
              <a:pathLst>
                <a:path h="4145153" w="6158738">
                  <a:moveTo>
                    <a:pt x="0" y="269240"/>
                  </a:moveTo>
                  <a:cubicBezTo>
                    <a:pt x="0" y="120396"/>
                    <a:pt x="121031" y="0"/>
                    <a:pt x="270256" y="0"/>
                  </a:cubicBezTo>
                  <a:lnTo>
                    <a:pt x="5888482" y="0"/>
                  </a:lnTo>
                  <a:lnTo>
                    <a:pt x="5888482" y="25400"/>
                  </a:lnTo>
                  <a:lnTo>
                    <a:pt x="5888482" y="0"/>
                  </a:lnTo>
                  <a:cubicBezTo>
                    <a:pt x="6037580" y="0"/>
                    <a:pt x="6158738" y="120396"/>
                    <a:pt x="6158738" y="269240"/>
                  </a:cubicBezTo>
                  <a:lnTo>
                    <a:pt x="6133338" y="269240"/>
                  </a:lnTo>
                  <a:lnTo>
                    <a:pt x="6158738" y="269240"/>
                  </a:lnTo>
                  <a:lnTo>
                    <a:pt x="6158738" y="3875913"/>
                  </a:lnTo>
                  <a:lnTo>
                    <a:pt x="6133338" y="3875913"/>
                  </a:lnTo>
                  <a:lnTo>
                    <a:pt x="6158738" y="3875913"/>
                  </a:lnTo>
                  <a:cubicBezTo>
                    <a:pt x="6158738" y="4024757"/>
                    <a:pt x="6037707" y="4145153"/>
                    <a:pt x="5888482" y="4145153"/>
                  </a:cubicBezTo>
                  <a:lnTo>
                    <a:pt x="5888482" y="4119753"/>
                  </a:lnTo>
                  <a:lnTo>
                    <a:pt x="5888482" y="4145153"/>
                  </a:lnTo>
                  <a:lnTo>
                    <a:pt x="270256" y="4145153"/>
                  </a:lnTo>
                  <a:lnTo>
                    <a:pt x="270256" y="4119753"/>
                  </a:lnTo>
                  <a:lnTo>
                    <a:pt x="270256" y="4145153"/>
                  </a:lnTo>
                  <a:cubicBezTo>
                    <a:pt x="121031"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8971" y="4094353"/>
                    <a:pt x="270256" y="4094353"/>
                  </a:cubicBezTo>
                  <a:lnTo>
                    <a:pt x="5888482" y="4094353"/>
                  </a:lnTo>
                  <a:cubicBezTo>
                    <a:pt x="6009767" y="4094353"/>
                    <a:pt x="6107938" y="3996436"/>
                    <a:pt x="6107938" y="3875913"/>
                  </a:cubicBezTo>
                  <a:lnTo>
                    <a:pt x="6107938" y="269240"/>
                  </a:lnTo>
                  <a:cubicBezTo>
                    <a:pt x="6107938" y="148717"/>
                    <a:pt x="6009767" y="50800"/>
                    <a:pt x="5888482" y="50800"/>
                  </a:cubicBezTo>
                  <a:lnTo>
                    <a:pt x="270256" y="50800"/>
                  </a:lnTo>
                  <a:lnTo>
                    <a:pt x="270256" y="25400"/>
                  </a:lnTo>
                  <a:lnTo>
                    <a:pt x="270256" y="50800"/>
                  </a:lnTo>
                  <a:cubicBezTo>
                    <a:pt x="148971" y="50800"/>
                    <a:pt x="50800" y="148717"/>
                    <a:pt x="50800" y="269240"/>
                  </a:cubicBezTo>
                  <a:close/>
                </a:path>
              </a:pathLst>
            </a:custGeom>
            <a:solidFill>
              <a:srgbClr val="5C4E69"/>
            </a:solidFill>
            <a:ln w="12700">
              <a:solidFill>
                <a:srgbClr val="000000"/>
              </a:solidFill>
            </a:ln>
          </p:spPr>
        </p:sp>
      </p:grpSp>
      <p:sp>
        <p:nvSpPr>
          <p:cNvPr name="Freeform 11" id="11" descr="preencoded.png"/>
          <p:cNvSpPr/>
          <p:nvPr/>
        </p:nvSpPr>
        <p:spPr>
          <a:xfrm flipH="false" flipV="false" rot="0">
            <a:off x="7812138" y="2586485"/>
            <a:ext cx="152400" cy="3070774"/>
          </a:xfrm>
          <a:custGeom>
            <a:avLst/>
            <a:gdLst/>
            <a:ahLst/>
            <a:cxnLst/>
            <a:rect r="r" b="b" t="t" l="l"/>
            <a:pathLst>
              <a:path h="3070774" w="152400">
                <a:moveTo>
                  <a:pt x="0" y="0"/>
                </a:moveTo>
                <a:lnTo>
                  <a:pt x="152400" y="0"/>
                </a:lnTo>
                <a:lnTo>
                  <a:pt x="152400" y="3070774"/>
                </a:lnTo>
                <a:lnTo>
                  <a:pt x="0" y="3070774"/>
                </a:lnTo>
                <a:lnTo>
                  <a:pt x="0" y="0"/>
                </a:lnTo>
                <a:close/>
              </a:path>
            </a:pathLst>
          </a:custGeom>
          <a:blipFill>
            <a:blip r:embed="rId4"/>
            <a:stretch>
              <a:fillRect l="-62" t="0" r="-56" b="0"/>
            </a:stretch>
          </a:blipFill>
        </p:spPr>
      </p:sp>
      <p:sp>
        <p:nvSpPr>
          <p:cNvPr name="TextBox 12" id="12"/>
          <p:cNvSpPr txBox="true"/>
          <p:nvPr/>
        </p:nvSpPr>
        <p:spPr>
          <a:xfrm rot="0">
            <a:off x="8286159" y="2869997"/>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Time-Aware Routing</a:t>
            </a:r>
          </a:p>
        </p:txBody>
      </p:sp>
      <p:sp>
        <p:nvSpPr>
          <p:cNvPr name="TextBox 13" id="13"/>
          <p:cNvSpPr txBox="true"/>
          <p:nvPr/>
        </p:nvSpPr>
        <p:spPr>
          <a:xfrm rot="0">
            <a:off x="8286159" y="3425876"/>
            <a:ext cx="3823392" cy="1909762"/>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Aplikasi populer (seperti Google Maps) memprioritaskan waktu tercepat.</a:t>
            </a:r>
          </a:p>
        </p:txBody>
      </p:sp>
      <p:grpSp>
        <p:nvGrpSpPr>
          <p:cNvPr name="Group 14" id="14"/>
          <p:cNvGrpSpPr/>
          <p:nvPr/>
        </p:nvGrpSpPr>
        <p:grpSpPr>
          <a:xfrm rot="0">
            <a:off x="12695634" y="2567435"/>
            <a:ext cx="4619177" cy="3108874"/>
            <a:chOff x="0" y="0"/>
            <a:chExt cx="6158903" cy="4145166"/>
          </a:xfrm>
        </p:grpSpPr>
        <p:sp>
          <p:nvSpPr>
            <p:cNvPr name="Freeform 15" id="15"/>
            <p:cNvSpPr/>
            <p:nvPr/>
          </p:nvSpPr>
          <p:spPr>
            <a:xfrm flipH="false" flipV="false" rot="0">
              <a:off x="25400" y="25400"/>
              <a:ext cx="6108065" cy="4094353"/>
            </a:xfrm>
            <a:custGeom>
              <a:avLst/>
              <a:gdLst/>
              <a:ahLst/>
              <a:cxnLst/>
              <a:rect r="r" b="b" t="t" l="l"/>
              <a:pathLst>
                <a:path h="4094353" w="6108065">
                  <a:moveTo>
                    <a:pt x="0" y="243840"/>
                  </a:moveTo>
                  <a:cubicBezTo>
                    <a:pt x="0" y="109220"/>
                    <a:pt x="109601" y="0"/>
                    <a:pt x="244856" y="0"/>
                  </a:cubicBezTo>
                  <a:lnTo>
                    <a:pt x="5863209" y="0"/>
                  </a:lnTo>
                  <a:cubicBezTo>
                    <a:pt x="5998464" y="0"/>
                    <a:pt x="6108065" y="109220"/>
                    <a:pt x="6108065" y="243840"/>
                  </a:cubicBezTo>
                  <a:lnTo>
                    <a:pt x="6108065" y="3850513"/>
                  </a:lnTo>
                  <a:cubicBezTo>
                    <a:pt x="6108065" y="3985133"/>
                    <a:pt x="5998464" y="4094353"/>
                    <a:pt x="5863209" y="4094353"/>
                  </a:cubicBezTo>
                  <a:lnTo>
                    <a:pt x="244856" y="4094353"/>
                  </a:lnTo>
                  <a:cubicBezTo>
                    <a:pt x="109601" y="4094353"/>
                    <a:pt x="0" y="3985133"/>
                    <a:pt x="0" y="3850513"/>
                  </a:cubicBezTo>
                  <a:close/>
                </a:path>
              </a:pathLst>
            </a:custGeom>
            <a:solidFill>
              <a:srgbClr val="241631"/>
            </a:solidFill>
            <a:ln w="12700">
              <a:solidFill>
                <a:srgbClr val="000000"/>
              </a:solidFill>
            </a:ln>
          </p:spPr>
        </p:sp>
        <p:sp>
          <p:nvSpPr>
            <p:cNvPr name="Freeform 16" id="16"/>
            <p:cNvSpPr/>
            <p:nvPr/>
          </p:nvSpPr>
          <p:spPr>
            <a:xfrm flipH="false" flipV="false" rot="0">
              <a:off x="0" y="0"/>
              <a:ext cx="6158865" cy="4145153"/>
            </a:xfrm>
            <a:custGeom>
              <a:avLst/>
              <a:gdLst/>
              <a:ahLst/>
              <a:cxnLst/>
              <a:rect r="r" b="b" t="t" l="l"/>
              <a:pathLst>
                <a:path h="4145153" w="6158865">
                  <a:moveTo>
                    <a:pt x="0" y="269240"/>
                  </a:moveTo>
                  <a:cubicBezTo>
                    <a:pt x="0" y="120396"/>
                    <a:pt x="121031" y="0"/>
                    <a:pt x="270256" y="0"/>
                  </a:cubicBezTo>
                  <a:lnTo>
                    <a:pt x="5888609" y="0"/>
                  </a:lnTo>
                  <a:lnTo>
                    <a:pt x="5888609" y="25400"/>
                  </a:lnTo>
                  <a:lnTo>
                    <a:pt x="5888609" y="0"/>
                  </a:lnTo>
                  <a:cubicBezTo>
                    <a:pt x="6037707" y="0"/>
                    <a:pt x="6158865" y="120396"/>
                    <a:pt x="6158865" y="269240"/>
                  </a:cubicBezTo>
                  <a:lnTo>
                    <a:pt x="6133465" y="269240"/>
                  </a:lnTo>
                  <a:lnTo>
                    <a:pt x="6158865" y="269240"/>
                  </a:lnTo>
                  <a:lnTo>
                    <a:pt x="6158865" y="3875913"/>
                  </a:lnTo>
                  <a:lnTo>
                    <a:pt x="6133465" y="3875913"/>
                  </a:lnTo>
                  <a:lnTo>
                    <a:pt x="6158865" y="3875913"/>
                  </a:lnTo>
                  <a:cubicBezTo>
                    <a:pt x="6158865" y="4024757"/>
                    <a:pt x="6037834" y="4145153"/>
                    <a:pt x="5888609" y="4145153"/>
                  </a:cubicBezTo>
                  <a:lnTo>
                    <a:pt x="5888609" y="4119753"/>
                  </a:lnTo>
                  <a:lnTo>
                    <a:pt x="5888609" y="4145153"/>
                  </a:lnTo>
                  <a:lnTo>
                    <a:pt x="270256" y="4145153"/>
                  </a:lnTo>
                  <a:lnTo>
                    <a:pt x="270256" y="4119753"/>
                  </a:lnTo>
                  <a:lnTo>
                    <a:pt x="270256" y="4145153"/>
                  </a:lnTo>
                  <a:cubicBezTo>
                    <a:pt x="121031"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8971" y="4094353"/>
                    <a:pt x="270256" y="4094353"/>
                  </a:cubicBezTo>
                  <a:lnTo>
                    <a:pt x="5888609" y="4094353"/>
                  </a:lnTo>
                  <a:cubicBezTo>
                    <a:pt x="6009894" y="4094353"/>
                    <a:pt x="6108065" y="3996436"/>
                    <a:pt x="6108065" y="3875913"/>
                  </a:cubicBezTo>
                  <a:lnTo>
                    <a:pt x="6108065" y="269240"/>
                  </a:lnTo>
                  <a:cubicBezTo>
                    <a:pt x="6108065" y="148717"/>
                    <a:pt x="6009894" y="50800"/>
                    <a:pt x="5888609" y="50800"/>
                  </a:cubicBezTo>
                  <a:lnTo>
                    <a:pt x="270256" y="50800"/>
                  </a:lnTo>
                  <a:lnTo>
                    <a:pt x="270256" y="25400"/>
                  </a:lnTo>
                  <a:lnTo>
                    <a:pt x="270256" y="50800"/>
                  </a:lnTo>
                  <a:cubicBezTo>
                    <a:pt x="148971" y="50800"/>
                    <a:pt x="50800" y="148717"/>
                    <a:pt x="50800" y="269240"/>
                  </a:cubicBezTo>
                  <a:close/>
                </a:path>
              </a:pathLst>
            </a:custGeom>
            <a:solidFill>
              <a:srgbClr val="5C4E69"/>
            </a:solidFill>
            <a:ln w="12700">
              <a:solidFill>
                <a:srgbClr val="000000"/>
              </a:solidFill>
            </a:ln>
          </p:spPr>
        </p:sp>
      </p:grpSp>
      <p:sp>
        <p:nvSpPr>
          <p:cNvPr name="Freeform 17" id="17" descr="preencoded.png"/>
          <p:cNvSpPr/>
          <p:nvPr/>
        </p:nvSpPr>
        <p:spPr>
          <a:xfrm flipH="false" flipV="false" rot="0">
            <a:off x="12676584" y="2586485"/>
            <a:ext cx="152400" cy="3070774"/>
          </a:xfrm>
          <a:custGeom>
            <a:avLst/>
            <a:gdLst/>
            <a:ahLst/>
            <a:cxnLst/>
            <a:rect r="r" b="b" t="t" l="l"/>
            <a:pathLst>
              <a:path h="3070774" w="152400">
                <a:moveTo>
                  <a:pt x="0" y="0"/>
                </a:moveTo>
                <a:lnTo>
                  <a:pt x="152400" y="0"/>
                </a:lnTo>
                <a:lnTo>
                  <a:pt x="152400" y="3070774"/>
                </a:lnTo>
                <a:lnTo>
                  <a:pt x="0" y="3070774"/>
                </a:lnTo>
                <a:lnTo>
                  <a:pt x="0" y="0"/>
                </a:lnTo>
                <a:close/>
              </a:path>
            </a:pathLst>
          </a:custGeom>
          <a:blipFill>
            <a:blip r:embed="rId4"/>
            <a:stretch>
              <a:fillRect l="-62" t="0" r="-56" b="0"/>
            </a:stretch>
          </a:blipFill>
        </p:spPr>
      </p:sp>
      <p:sp>
        <p:nvSpPr>
          <p:cNvPr name="TextBox 18" id="18"/>
          <p:cNvSpPr txBox="true"/>
          <p:nvPr/>
        </p:nvSpPr>
        <p:spPr>
          <a:xfrm rot="0">
            <a:off x="13150606" y="2869997"/>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Double Fare</a:t>
            </a:r>
          </a:p>
        </p:txBody>
      </p:sp>
      <p:sp>
        <p:nvSpPr>
          <p:cNvPr name="TextBox 19" id="19"/>
          <p:cNvSpPr txBox="true"/>
          <p:nvPr/>
        </p:nvSpPr>
        <p:spPr>
          <a:xfrm rot="0">
            <a:off x="13150606" y="3425876"/>
            <a:ext cx="3823545" cy="1456134"/>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Sering mengarahkan ke rute transit berbayar, membuat biaya perjalanan jadi mahal.</a:t>
            </a:r>
          </a:p>
        </p:txBody>
      </p:sp>
      <p:grpSp>
        <p:nvGrpSpPr>
          <p:cNvPr name="Group 20" id="20"/>
          <p:cNvGrpSpPr/>
          <p:nvPr/>
        </p:nvGrpSpPr>
        <p:grpSpPr>
          <a:xfrm rot="0">
            <a:off x="7831188" y="5921721"/>
            <a:ext cx="4619034" cy="3108874"/>
            <a:chOff x="0" y="0"/>
            <a:chExt cx="6158713" cy="4145166"/>
          </a:xfrm>
        </p:grpSpPr>
        <p:sp>
          <p:nvSpPr>
            <p:cNvPr name="Freeform 21" id="21"/>
            <p:cNvSpPr/>
            <p:nvPr/>
          </p:nvSpPr>
          <p:spPr>
            <a:xfrm flipH="false" flipV="false" rot="0">
              <a:off x="25400" y="25400"/>
              <a:ext cx="6107938" cy="4094353"/>
            </a:xfrm>
            <a:custGeom>
              <a:avLst/>
              <a:gdLst/>
              <a:ahLst/>
              <a:cxnLst/>
              <a:rect r="r" b="b" t="t" l="l"/>
              <a:pathLst>
                <a:path h="4094353" w="6107938">
                  <a:moveTo>
                    <a:pt x="0" y="243840"/>
                  </a:moveTo>
                  <a:cubicBezTo>
                    <a:pt x="0" y="109220"/>
                    <a:pt x="109601" y="0"/>
                    <a:pt x="244856" y="0"/>
                  </a:cubicBezTo>
                  <a:lnTo>
                    <a:pt x="5863082" y="0"/>
                  </a:lnTo>
                  <a:cubicBezTo>
                    <a:pt x="5998337" y="0"/>
                    <a:pt x="6107938" y="109220"/>
                    <a:pt x="6107938" y="243840"/>
                  </a:cubicBezTo>
                  <a:lnTo>
                    <a:pt x="6107938" y="3850513"/>
                  </a:lnTo>
                  <a:cubicBezTo>
                    <a:pt x="6107938" y="3985133"/>
                    <a:pt x="5998337" y="4094353"/>
                    <a:pt x="5863082" y="4094353"/>
                  </a:cubicBezTo>
                  <a:lnTo>
                    <a:pt x="244856" y="4094353"/>
                  </a:lnTo>
                  <a:cubicBezTo>
                    <a:pt x="109601" y="4094353"/>
                    <a:pt x="0" y="3985133"/>
                    <a:pt x="0" y="3850513"/>
                  </a:cubicBezTo>
                  <a:close/>
                </a:path>
              </a:pathLst>
            </a:custGeom>
            <a:solidFill>
              <a:srgbClr val="241631"/>
            </a:solidFill>
            <a:ln w="12700">
              <a:solidFill>
                <a:srgbClr val="000000"/>
              </a:solidFill>
            </a:ln>
          </p:spPr>
        </p:sp>
        <p:sp>
          <p:nvSpPr>
            <p:cNvPr name="Freeform 22" id="22"/>
            <p:cNvSpPr/>
            <p:nvPr/>
          </p:nvSpPr>
          <p:spPr>
            <a:xfrm flipH="false" flipV="false" rot="0">
              <a:off x="0" y="0"/>
              <a:ext cx="6158738" cy="4145153"/>
            </a:xfrm>
            <a:custGeom>
              <a:avLst/>
              <a:gdLst/>
              <a:ahLst/>
              <a:cxnLst/>
              <a:rect r="r" b="b" t="t" l="l"/>
              <a:pathLst>
                <a:path h="4145153" w="6158738">
                  <a:moveTo>
                    <a:pt x="0" y="269240"/>
                  </a:moveTo>
                  <a:cubicBezTo>
                    <a:pt x="0" y="120396"/>
                    <a:pt x="121031" y="0"/>
                    <a:pt x="270256" y="0"/>
                  </a:cubicBezTo>
                  <a:lnTo>
                    <a:pt x="5888482" y="0"/>
                  </a:lnTo>
                  <a:lnTo>
                    <a:pt x="5888482" y="25400"/>
                  </a:lnTo>
                  <a:lnTo>
                    <a:pt x="5888482" y="0"/>
                  </a:lnTo>
                  <a:cubicBezTo>
                    <a:pt x="6037580" y="0"/>
                    <a:pt x="6158738" y="120396"/>
                    <a:pt x="6158738" y="269240"/>
                  </a:cubicBezTo>
                  <a:lnTo>
                    <a:pt x="6133338" y="269240"/>
                  </a:lnTo>
                  <a:lnTo>
                    <a:pt x="6158738" y="269240"/>
                  </a:lnTo>
                  <a:lnTo>
                    <a:pt x="6158738" y="3875913"/>
                  </a:lnTo>
                  <a:lnTo>
                    <a:pt x="6133338" y="3875913"/>
                  </a:lnTo>
                  <a:lnTo>
                    <a:pt x="6158738" y="3875913"/>
                  </a:lnTo>
                  <a:cubicBezTo>
                    <a:pt x="6158738" y="4024757"/>
                    <a:pt x="6037707" y="4145153"/>
                    <a:pt x="5888482" y="4145153"/>
                  </a:cubicBezTo>
                  <a:lnTo>
                    <a:pt x="5888482" y="4119753"/>
                  </a:lnTo>
                  <a:lnTo>
                    <a:pt x="5888482" y="4145153"/>
                  </a:lnTo>
                  <a:lnTo>
                    <a:pt x="270256" y="4145153"/>
                  </a:lnTo>
                  <a:lnTo>
                    <a:pt x="270256" y="4119753"/>
                  </a:lnTo>
                  <a:lnTo>
                    <a:pt x="270256" y="4145153"/>
                  </a:lnTo>
                  <a:cubicBezTo>
                    <a:pt x="121031"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8971" y="4094353"/>
                    <a:pt x="270256" y="4094353"/>
                  </a:cubicBezTo>
                  <a:lnTo>
                    <a:pt x="5888482" y="4094353"/>
                  </a:lnTo>
                  <a:cubicBezTo>
                    <a:pt x="6009767" y="4094353"/>
                    <a:pt x="6107938" y="3996436"/>
                    <a:pt x="6107938" y="3875913"/>
                  </a:cubicBezTo>
                  <a:lnTo>
                    <a:pt x="6107938" y="269240"/>
                  </a:lnTo>
                  <a:cubicBezTo>
                    <a:pt x="6107938" y="148717"/>
                    <a:pt x="6009767" y="50800"/>
                    <a:pt x="5888482" y="50800"/>
                  </a:cubicBezTo>
                  <a:lnTo>
                    <a:pt x="270256" y="50800"/>
                  </a:lnTo>
                  <a:lnTo>
                    <a:pt x="270256" y="25400"/>
                  </a:lnTo>
                  <a:lnTo>
                    <a:pt x="270256" y="50800"/>
                  </a:lnTo>
                  <a:cubicBezTo>
                    <a:pt x="148971" y="50800"/>
                    <a:pt x="50800" y="148717"/>
                    <a:pt x="50800" y="269240"/>
                  </a:cubicBezTo>
                  <a:close/>
                </a:path>
              </a:pathLst>
            </a:custGeom>
            <a:solidFill>
              <a:srgbClr val="5C4E69"/>
            </a:solidFill>
            <a:ln w="12700">
              <a:solidFill>
                <a:srgbClr val="000000"/>
              </a:solidFill>
            </a:ln>
          </p:spPr>
        </p:sp>
      </p:grpSp>
      <p:sp>
        <p:nvSpPr>
          <p:cNvPr name="Freeform 23" id="23" descr="preencoded.png"/>
          <p:cNvSpPr/>
          <p:nvPr/>
        </p:nvSpPr>
        <p:spPr>
          <a:xfrm flipH="false" flipV="false" rot="0">
            <a:off x="7812138" y="5940771"/>
            <a:ext cx="152400" cy="3070774"/>
          </a:xfrm>
          <a:custGeom>
            <a:avLst/>
            <a:gdLst/>
            <a:ahLst/>
            <a:cxnLst/>
            <a:rect r="r" b="b" t="t" l="l"/>
            <a:pathLst>
              <a:path h="3070774" w="152400">
                <a:moveTo>
                  <a:pt x="0" y="0"/>
                </a:moveTo>
                <a:lnTo>
                  <a:pt x="152400" y="0"/>
                </a:lnTo>
                <a:lnTo>
                  <a:pt x="152400" y="3070774"/>
                </a:lnTo>
                <a:lnTo>
                  <a:pt x="0" y="3070774"/>
                </a:lnTo>
                <a:lnTo>
                  <a:pt x="0" y="0"/>
                </a:lnTo>
                <a:close/>
              </a:path>
            </a:pathLst>
          </a:custGeom>
          <a:blipFill>
            <a:blip r:embed="rId4"/>
            <a:stretch>
              <a:fillRect l="-62" t="0" r="-56" b="0"/>
            </a:stretch>
          </a:blipFill>
        </p:spPr>
      </p:sp>
      <p:sp>
        <p:nvSpPr>
          <p:cNvPr name="TextBox 24" id="24"/>
          <p:cNvSpPr txBox="true"/>
          <p:nvPr/>
        </p:nvSpPr>
        <p:spPr>
          <a:xfrm rot="0">
            <a:off x="8286159" y="6224292"/>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Contoh Nyata</a:t>
            </a:r>
          </a:p>
        </p:txBody>
      </p:sp>
      <p:sp>
        <p:nvSpPr>
          <p:cNvPr name="TextBox 25" id="25"/>
          <p:cNvSpPr txBox="true"/>
          <p:nvPr/>
        </p:nvSpPr>
        <p:spPr>
          <a:xfrm rot="0">
            <a:off x="8286159" y="6780162"/>
            <a:ext cx="3823392" cy="1909762"/>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Rute PIK 2 ke Pinang Ranti sering kena tarif ganda, padahal ada rute alternatif Rp3.500.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Freeform 6" id="6" descr="preencoded.png"/>
          <p:cNvSpPr/>
          <p:nvPr/>
        </p:nvSpPr>
        <p:spPr>
          <a:xfrm flipH="false" flipV="false" rot="0">
            <a:off x="0" y="0"/>
            <a:ext cx="18288000" cy="3544043"/>
          </a:xfrm>
          <a:custGeom>
            <a:avLst/>
            <a:gdLst/>
            <a:ahLst/>
            <a:cxnLst/>
            <a:rect r="r" b="b" t="t" l="l"/>
            <a:pathLst>
              <a:path h="3544043" w="18288000">
                <a:moveTo>
                  <a:pt x="0" y="0"/>
                </a:moveTo>
                <a:lnTo>
                  <a:pt x="18288000" y="0"/>
                </a:lnTo>
                <a:lnTo>
                  <a:pt x="18288000" y="3544043"/>
                </a:lnTo>
                <a:lnTo>
                  <a:pt x="0" y="3544043"/>
                </a:lnTo>
                <a:lnTo>
                  <a:pt x="0" y="0"/>
                </a:lnTo>
                <a:close/>
              </a:path>
            </a:pathLst>
          </a:custGeom>
          <a:blipFill>
            <a:blip r:embed="rId3"/>
            <a:stretch>
              <a:fillRect l="-10" t="0" r="-10" b="0"/>
            </a:stretch>
          </a:blipFill>
        </p:spPr>
      </p:sp>
      <p:sp>
        <p:nvSpPr>
          <p:cNvPr name="TextBox 7" id="7"/>
          <p:cNvSpPr txBox="true"/>
          <p:nvPr/>
        </p:nvSpPr>
        <p:spPr>
          <a:xfrm rot="0">
            <a:off x="992238" y="4592088"/>
            <a:ext cx="9922078"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Trans-It: Fare-Aware Routing</a:t>
            </a:r>
          </a:p>
        </p:txBody>
      </p:sp>
      <p:grpSp>
        <p:nvGrpSpPr>
          <p:cNvPr name="Group 8" id="8"/>
          <p:cNvGrpSpPr/>
          <p:nvPr/>
        </p:nvGrpSpPr>
        <p:grpSpPr>
          <a:xfrm rot="0">
            <a:off x="992238" y="5960421"/>
            <a:ext cx="5245446" cy="3221384"/>
            <a:chOff x="0" y="0"/>
            <a:chExt cx="6993928" cy="4295178"/>
          </a:xfrm>
        </p:grpSpPr>
        <p:sp>
          <p:nvSpPr>
            <p:cNvPr name="Freeform 9" id="9"/>
            <p:cNvSpPr/>
            <p:nvPr/>
          </p:nvSpPr>
          <p:spPr>
            <a:xfrm flipH="false" flipV="false" rot="0">
              <a:off x="0" y="0"/>
              <a:ext cx="6993890" cy="4295140"/>
            </a:xfrm>
            <a:custGeom>
              <a:avLst/>
              <a:gdLst/>
              <a:ahLst/>
              <a:cxnLst/>
              <a:rect r="r" b="b" t="t" l="l"/>
              <a:pathLst>
                <a:path h="4295140" w="6993890">
                  <a:moveTo>
                    <a:pt x="0" y="56642"/>
                  </a:moveTo>
                  <a:cubicBezTo>
                    <a:pt x="0" y="25400"/>
                    <a:pt x="25400" y="0"/>
                    <a:pt x="56642" y="0"/>
                  </a:cubicBezTo>
                  <a:lnTo>
                    <a:pt x="6937248" y="0"/>
                  </a:lnTo>
                  <a:cubicBezTo>
                    <a:pt x="6968617" y="0"/>
                    <a:pt x="6993890" y="25400"/>
                    <a:pt x="6993890" y="56642"/>
                  </a:cubicBezTo>
                  <a:lnTo>
                    <a:pt x="6993890" y="4238498"/>
                  </a:lnTo>
                  <a:cubicBezTo>
                    <a:pt x="6993890" y="4269867"/>
                    <a:pt x="6968490" y="4295140"/>
                    <a:pt x="6937248" y="4295140"/>
                  </a:cubicBezTo>
                  <a:lnTo>
                    <a:pt x="56642" y="4295140"/>
                  </a:lnTo>
                  <a:cubicBezTo>
                    <a:pt x="25400" y="4295140"/>
                    <a:pt x="0" y="4269740"/>
                    <a:pt x="0" y="4238498"/>
                  </a:cubicBezTo>
                  <a:close/>
                </a:path>
              </a:pathLst>
            </a:custGeom>
            <a:solidFill>
              <a:srgbClr val="433550"/>
            </a:solidFill>
            <a:ln w="12700">
              <a:solidFill>
                <a:srgbClr val="000000"/>
              </a:solidFill>
            </a:ln>
          </p:spPr>
        </p:sp>
      </p:grpSp>
      <p:sp>
        <p:nvSpPr>
          <p:cNvPr name="Freeform 10" id="10" descr="preencoded.png"/>
          <p:cNvSpPr/>
          <p:nvPr/>
        </p:nvSpPr>
        <p:spPr>
          <a:xfrm flipH="false" flipV="false" rot="0">
            <a:off x="1275759" y="6243933"/>
            <a:ext cx="850554" cy="850554"/>
          </a:xfrm>
          <a:custGeom>
            <a:avLst/>
            <a:gdLst/>
            <a:ahLst/>
            <a:cxnLst/>
            <a:rect r="r" b="b" t="t" l="l"/>
            <a:pathLst>
              <a:path h="850554" w="850554">
                <a:moveTo>
                  <a:pt x="0" y="0"/>
                </a:moveTo>
                <a:lnTo>
                  <a:pt x="850554" y="0"/>
                </a:lnTo>
                <a:lnTo>
                  <a:pt x="850554" y="850554"/>
                </a:lnTo>
                <a:lnTo>
                  <a:pt x="0" y="850554"/>
                </a:lnTo>
                <a:lnTo>
                  <a:pt x="0" y="0"/>
                </a:lnTo>
                <a:close/>
              </a:path>
            </a:pathLst>
          </a:custGeom>
          <a:blipFill>
            <a:blip r:embed="rId4"/>
            <a:stretch>
              <a:fillRect l="0" t="0" r="0" b="0"/>
            </a:stretch>
          </a:blipFill>
        </p:spPr>
      </p:sp>
      <p:sp>
        <p:nvSpPr>
          <p:cNvPr name="Freeform 11" id="11" descr="preencoded.png"/>
          <p:cNvSpPr/>
          <p:nvPr/>
        </p:nvSpPr>
        <p:spPr>
          <a:xfrm flipH="false" flipV="false" rot="0">
            <a:off x="1509712" y="6477743"/>
            <a:ext cx="382638" cy="382638"/>
          </a:xfrm>
          <a:custGeom>
            <a:avLst/>
            <a:gdLst/>
            <a:ahLst/>
            <a:cxnLst/>
            <a:rect r="r" b="b" t="t" l="l"/>
            <a:pathLst>
              <a:path h="382638" w="382638">
                <a:moveTo>
                  <a:pt x="0" y="0"/>
                </a:moveTo>
                <a:lnTo>
                  <a:pt x="382639" y="0"/>
                </a:lnTo>
                <a:lnTo>
                  <a:pt x="382639" y="382638"/>
                </a:lnTo>
                <a:lnTo>
                  <a:pt x="0" y="382638"/>
                </a:lnTo>
                <a:lnTo>
                  <a:pt x="0" y="0"/>
                </a:lnTo>
                <a:close/>
              </a:path>
            </a:pathLst>
          </a:custGeom>
          <a:blipFill>
            <a:blip r:embed="rId5">
              <a:extLst>
                <a:ext uri="{96DAC541-7B7A-43D3-8B79-37D633B846F1}">
                  <asvg:svgBlip xmlns:asvg="http://schemas.microsoft.com/office/drawing/2016/SVG/main" r:embed="rId6"/>
                </a:ext>
              </a:extLst>
            </a:blip>
            <a:stretch>
              <a:fillRect l="-26829" t="0" r="-26829" b="0"/>
            </a:stretch>
          </a:blipFill>
        </p:spPr>
      </p:sp>
      <p:sp>
        <p:nvSpPr>
          <p:cNvPr name="TextBox 12" id="12"/>
          <p:cNvSpPr txBox="true"/>
          <p:nvPr/>
        </p:nvSpPr>
        <p:spPr>
          <a:xfrm rot="0">
            <a:off x="1275759" y="7339908"/>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Prioritas Biaya</a:t>
            </a:r>
          </a:p>
        </p:txBody>
      </p:sp>
      <p:sp>
        <p:nvSpPr>
          <p:cNvPr name="TextBox 13" id="13"/>
          <p:cNvSpPr txBox="true"/>
          <p:nvPr/>
        </p:nvSpPr>
        <p:spPr>
          <a:xfrm rot="0">
            <a:off x="1275759" y="7895777"/>
            <a:ext cx="4678413"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Algoritma navigasi yang memprioritaskan biaya termurah.</a:t>
            </a:r>
          </a:p>
        </p:txBody>
      </p:sp>
      <p:grpSp>
        <p:nvGrpSpPr>
          <p:cNvPr name="Group 14" id="14"/>
          <p:cNvGrpSpPr/>
          <p:nvPr/>
        </p:nvGrpSpPr>
        <p:grpSpPr>
          <a:xfrm rot="0">
            <a:off x="6521206" y="5960421"/>
            <a:ext cx="5245446" cy="3221384"/>
            <a:chOff x="0" y="0"/>
            <a:chExt cx="6993928" cy="4295178"/>
          </a:xfrm>
        </p:grpSpPr>
        <p:sp>
          <p:nvSpPr>
            <p:cNvPr name="Freeform 15" id="15"/>
            <p:cNvSpPr/>
            <p:nvPr/>
          </p:nvSpPr>
          <p:spPr>
            <a:xfrm flipH="false" flipV="false" rot="0">
              <a:off x="0" y="0"/>
              <a:ext cx="6993890" cy="4295140"/>
            </a:xfrm>
            <a:custGeom>
              <a:avLst/>
              <a:gdLst/>
              <a:ahLst/>
              <a:cxnLst/>
              <a:rect r="r" b="b" t="t" l="l"/>
              <a:pathLst>
                <a:path h="4295140" w="6993890">
                  <a:moveTo>
                    <a:pt x="0" y="56642"/>
                  </a:moveTo>
                  <a:cubicBezTo>
                    <a:pt x="0" y="25400"/>
                    <a:pt x="25400" y="0"/>
                    <a:pt x="56642" y="0"/>
                  </a:cubicBezTo>
                  <a:lnTo>
                    <a:pt x="6937248" y="0"/>
                  </a:lnTo>
                  <a:cubicBezTo>
                    <a:pt x="6968617" y="0"/>
                    <a:pt x="6993890" y="25400"/>
                    <a:pt x="6993890" y="56642"/>
                  </a:cubicBezTo>
                  <a:lnTo>
                    <a:pt x="6993890" y="4238498"/>
                  </a:lnTo>
                  <a:cubicBezTo>
                    <a:pt x="6993890" y="4269867"/>
                    <a:pt x="6968490" y="4295140"/>
                    <a:pt x="6937248" y="4295140"/>
                  </a:cubicBezTo>
                  <a:lnTo>
                    <a:pt x="56642" y="4295140"/>
                  </a:lnTo>
                  <a:cubicBezTo>
                    <a:pt x="25400" y="4295140"/>
                    <a:pt x="0" y="4269740"/>
                    <a:pt x="0" y="4238498"/>
                  </a:cubicBezTo>
                  <a:close/>
                </a:path>
              </a:pathLst>
            </a:custGeom>
            <a:solidFill>
              <a:srgbClr val="433550"/>
            </a:solidFill>
            <a:ln w="12700">
              <a:solidFill>
                <a:srgbClr val="000000"/>
              </a:solidFill>
            </a:ln>
          </p:spPr>
        </p:sp>
      </p:grpSp>
      <p:sp>
        <p:nvSpPr>
          <p:cNvPr name="Freeform 16" id="16" descr="preencoded.png"/>
          <p:cNvSpPr/>
          <p:nvPr/>
        </p:nvSpPr>
        <p:spPr>
          <a:xfrm flipH="false" flipV="false" rot="0">
            <a:off x="6804717" y="6243933"/>
            <a:ext cx="850554" cy="850554"/>
          </a:xfrm>
          <a:custGeom>
            <a:avLst/>
            <a:gdLst/>
            <a:ahLst/>
            <a:cxnLst/>
            <a:rect r="r" b="b" t="t" l="l"/>
            <a:pathLst>
              <a:path h="850554" w="850554">
                <a:moveTo>
                  <a:pt x="0" y="0"/>
                </a:moveTo>
                <a:lnTo>
                  <a:pt x="850554" y="0"/>
                </a:lnTo>
                <a:lnTo>
                  <a:pt x="850554" y="850554"/>
                </a:lnTo>
                <a:lnTo>
                  <a:pt x="0" y="850554"/>
                </a:lnTo>
                <a:lnTo>
                  <a:pt x="0" y="0"/>
                </a:lnTo>
                <a:close/>
              </a:path>
            </a:pathLst>
          </a:custGeom>
          <a:blipFill>
            <a:blip r:embed="rId7"/>
            <a:stretch>
              <a:fillRect l="0" t="0" r="0" b="0"/>
            </a:stretch>
          </a:blipFill>
        </p:spPr>
      </p:sp>
      <p:sp>
        <p:nvSpPr>
          <p:cNvPr name="Freeform 17" id="17" descr="preencoded.png"/>
          <p:cNvSpPr/>
          <p:nvPr/>
        </p:nvSpPr>
        <p:spPr>
          <a:xfrm flipH="false" flipV="false" rot="0">
            <a:off x="7038680" y="6477743"/>
            <a:ext cx="382638" cy="382638"/>
          </a:xfrm>
          <a:custGeom>
            <a:avLst/>
            <a:gdLst/>
            <a:ahLst/>
            <a:cxnLst/>
            <a:rect r="r" b="b" t="t" l="l"/>
            <a:pathLst>
              <a:path h="382638" w="382638">
                <a:moveTo>
                  <a:pt x="0" y="0"/>
                </a:moveTo>
                <a:lnTo>
                  <a:pt x="382638" y="0"/>
                </a:lnTo>
                <a:lnTo>
                  <a:pt x="382638" y="382638"/>
                </a:lnTo>
                <a:lnTo>
                  <a:pt x="0" y="382638"/>
                </a:lnTo>
                <a:lnTo>
                  <a:pt x="0" y="0"/>
                </a:lnTo>
                <a:close/>
              </a:path>
            </a:pathLst>
          </a:custGeom>
          <a:blipFill>
            <a:blip r:embed="rId8">
              <a:extLst>
                <a:ext uri="{96DAC541-7B7A-43D3-8B79-37D633B846F1}">
                  <asvg:svgBlip xmlns:asvg="http://schemas.microsoft.com/office/drawing/2016/SVG/main" r:embed="rId9"/>
                </a:ext>
              </a:extLst>
            </a:blip>
            <a:stretch>
              <a:fillRect l="0" t="-6098" r="0" b="-6096"/>
            </a:stretch>
          </a:blipFill>
        </p:spPr>
      </p:sp>
      <p:sp>
        <p:nvSpPr>
          <p:cNvPr name="TextBox 18" id="18"/>
          <p:cNvSpPr txBox="true"/>
          <p:nvPr/>
        </p:nvSpPr>
        <p:spPr>
          <a:xfrm rot="0">
            <a:off x="6804717" y="7339908"/>
            <a:ext cx="4250684"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Hindari Transit Berbayar</a:t>
            </a:r>
          </a:p>
        </p:txBody>
      </p:sp>
      <p:sp>
        <p:nvSpPr>
          <p:cNvPr name="TextBox 19" id="19"/>
          <p:cNvSpPr txBox="true"/>
          <p:nvPr/>
        </p:nvSpPr>
        <p:spPr>
          <a:xfrm rot="0">
            <a:off x="6804717" y="7895777"/>
            <a:ext cx="4678413"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Mendeteksi dan menghindari titik transfer berbayar (Paid Transfers).</a:t>
            </a:r>
          </a:p>
        </p:txBody>
      </p:sp>
      <p:grpSp>
        <p:nvGrpSpPr>
          <p:cNvPr name="Group 20" id="20"/>
          <p:cNvGrpSpPr/>
          <p:nvPr/>
        </p:nvGrpSpPr>
        <p:grpSpPr>
          <a:xfrm rot="0">
            <a:off x="12050163" y="5960421"/>
            <a:ext cx="5245446" cy="3221384"/>
            <a:chOff x="0" y="0"/>
            <a:chExt cx="6993928" cy="4295178"/>
          </a:xfrm>
        </p:grpSpPr>
        <p:sp>
          <p:nvSpPr>
            <p:cNvPr name="Freeform 21" id="21"/>
            <p:cNvSpPr/>
            <p:nvPr/>
          </p:nvSpPr>
          <p:spPr>
            <a:xfrm flipH="false" flipV="false" rot="0">
              <a:off x="0" y="0"/>
              <a:ext cx="6993890" cy="4295140"/>
            </a:xfrm>
            <a:custGeom>
              <a:avLst/>
              <a:gdLst/>
              <a:ahLst/>
              <a:cxnLst/>
              <a:rect r="r" b="b" t="t" l="l"/>
              <a:pathLst>
                <a:path h="4295140" w="6993890">
                  <a:moveTo>
                    <a:pt x="0" y="56642"/>
                  </a:moveTo>
                  <a:cubicBezTo>
                    <a:pt x="0" y="25400"/>
                    <a:pt x="25400" y="0"/>
                    <a:pt x="56642" y="0"/>
                  </a:cubicBezTo>
                  <a:lnTo>
                    <a:pt x="6937248" y="0"/>
                  </a:lnTo>
                  <a:cubicBezTo>
                    <a:pt x="6968617" y="0"/>
                    <a:pt x="6993890" y="25400"/>
                    <a:pt x="6993890" y="56642"/>
                  </a:cubicBezTo>
                  <a:lnTo>
                    <a:pt x="6993890" y="4238498"/>
                  </a:lnTo>
                  <a:cubicBezTo>
                    <a:pt x="6993890" y="4269867"/>
                    <a:pt x="6968490" y="4295140"/>
                    <a:pt x="6937248" y="4295140"/>
                  </a:cubicBezTo>
                  <a:lnTo>
                    <a:pt x="56642" y="4295140"/>
                  </a:lnTo>
                  <a:cubicBezTo>
                    <a:pt x="25400" y="4295140"/>
                    <a:pt x="0" y="4269740"/>
                    <a:pt x="0" y="4238498"/>
                  </a:cubicBezTo>
                  <a:close/>
                </a:path>
              </a:pathLst>
            </a:custGeom>
            <a:solidFill>
              <a:srgbClr val="433550"/>
            </a:solidFill>
            <a:ln w="12700">
              <a:solidFill>
                <a:srgbClr val="000000"/>
              </a:solidFill>
            </a:ln>
          </p:spPr>
        </p:sp>
      </p:grpSp>
      <p:sp>
        <p:nvSpPr>
          <p:cNvPr name="Freeform 22" id="22" descr="preencoded.png"/>
          <p:cNvSpPr/>
          <p:nvPr/>
        </p:nvSpPr>
        <p:spPr>
          <a:xfrm flipH="false" flipV="false" rot="0">
            <a:off x="12333684" y="6243933"/>
            <a:ext cx="850554" cy="850554"/>
          </a:xfrm>
          <a:custGeom>
            <a:avLst/>
            <a:gdLst/>
            <a:ahLst/>
            <a:cxnLst/>
            <a:rect r="r" b="b" t="t" l="l"/>
            <a:pathLst>
              <a:path h="850554" w="850554">
                <a:moveTo>
                  <a:pt x="0" y="0"/>
                </a:moveTo>
                <a:lnTo>
                  <a:pt x="850554" y="0"/>
                </a:lnTo>
                <a:lnTo>
                  <a:pt x="850554" y="850554"/>
                </a:lnTo>
                <a:lnTo>
                  <a:pt x="0" y="850554"/>
                </a:lnTo>
                <a:lnTo>
                  <a:pt x="0" y="0"/>
                </a:lnTo>
                <a:close/>
              </a:path>
            </a:pathLst>
          </a:custGeom>
          <a:blipFill>
            <a:blip r:embed="rId10"/>
            <a:stretch>
              <a:fillRect l="0" t="0" r="0" b="0"/>
            </a:stretch>
          </a:blipFill>
        </p:spPr>
      </p:sp>
      <p:sp>
        <p:nvSpPr>
          <p:cNvPr name="Freeform 23" id="23" descr="preencoded.png"/>
          <p:cNvSpPr/>
          <p:nvPr/>
        </p:nvSpPr>
        <p:spPr>
          <a:xfrm flipH="false" flipV="false" rot="0">
            <a:off x="12567647" y="6477743"/>
            <a:ext cx="382638" cy="382638"/>
          </a:xfrm>
          <a:custGeom>
            <a:avLst/>
            <a:gdLst/>
            <a:ahLst/>
            <a:cxnLst/>
            <a:rect r="r" b="b" t="t" l="l"/>
            <a:pathLst>
              <a:path h="382638" w="382638">
                <a:moveTo>
                  <a:pt x="0" y="0"/>
                </a:moveTo>
                <a:lnTo>
                  <a:pt x="382638" y="0"/>
                </a:lnTo>
                <a:lnTo>
                  <a:pt x="382638" y="382638"/>
                </a:lnTo>
                <a:lnTo>
                  <a:pt x="0" y="382638"/>
                </a:lnTo>
                <a:lnTo>
                  <a:pt x="0" y="0"/>
                </a:lnTo>
                <a:close/>
              </a:path>
            </a:pathLst>
          </a:custGeom>
          <a:blipFill>
            <a:blip r:embed="rId11">
              <a:extLst>
                <a:ext uri="{96DAC541-7B7A-43D3-8B79-37D633B846F1}">
                  <asvg:svgBlip xmlns:asvg="http://schemas.microsoft.com/office/drawing/2016/SVG/main" r:embed="rId12"/>
                </a:ext>
              </a:extLst>
            </a:blip>
            <a:stretch>
              <a:fillRect l="0" t="-1219" r="0" b="-1219"/>
            </a:stretch>
          </a:blipFill>
        </p:spPr>
      </p:sp>
      <p:sp>
        <p:nvSpPr>
          <p:cNvPr name="TextBox 24" id="24"/>
          <p:cNvSpPr txBox="true"/>
          <p:nvPr/>
        </p:nvSpPr>
        <p:spPr>
          <a:xfrm rot="0">
            <a:off x="12333684" y="7339908"/>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Hemat Budget</a:t>
            </a:r>
          </a:p>
        </p:txBody>
      </p:sp>
      <p:sp>
        <p:nvSpPr>
          <p:cNvPr name="TextBox 25" id="25"/>
          <p:cNvSpPr txBox="true"/>
          <p:nvPr/>
        </p:nvSpPr>
        <p:spPr>
          <a:xfrm rot="0">
            <a:off x="12333684" y="7895777"/>
            <a:ext cx="4678413"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Membantu pengguna menghemat pengeluaran transportasi harian.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TextBox 6" id="6"/>
          <p:cNvSpPr txBox="true"/>
          <p:nvPr/>
        </p:nvSpPr>
        <p:spPr>
          <a:xfrm rot="0">
            <a:off x="734911" y="539353"/>
            <a:ext cx="5250066" cy="694430"/>
          </a:xfrm>
          <a:prstGeom prst="rect">
            <a:avLst/>
          </a:prstGeom>
        </p:spPr>
        <p:txBody>
          <a:bodyPr anchor="t" rtlCol="false" tIns="0" lIns="0" bIns="0" rIns="0">
            <a:spAutoFit/>
          </a:bodyPr>
          <a:lstStyle/>
          <a:p>
            <a:pPr algn="l">
              <a:lnSpc>
                <a:spcPts val="5124"/>
              </a:lnSpc>
            </a:pPr>
            <a:r>
              <a:rPr lang="en-US" sz="4124" b="true">
                <a:solidFill>
                  <a:srgbClr val="F94CAF"/>
                </a:solidFill>
                <a:latin typeface="Arimo Bold"/>
                <a:ea typeface="Arimo Bold"/>
                <a:cs typeface="Arimo Bold"/>
                <a:sym typeface="Arimo Bold"/>
              </a:rPr>
              <a:t>Cara Kerja &amp; Demo</a:t>
            </a:r>
          </a:p>
        </p:txBody>
      </p:sp>
      <p:sp>
        <p:nvSpPr>
          <p:cNvPr name="Freeform 7" id="7" descr="preencoded.png"/>
          <p:cNvSpPr/>
          <p:nvPr/>
        </p:nvSpPr>
        <p:spPr>
          <a:xfrm flipH="false" flipV="false" rot="0">
            <a:off x="734911" y="1784899"/>
            <a:ext cx="8464896" cy="7434110"/>
          </a:xfrm>
          <a:custGeom>
            <a:avLst/>
            <a:gdLst/>
            <a:ahLst/>
            <a:cxnLst/>
            <a:rect r="r" b="b" t="t" l="l"/>
            <a:pathLst>
              <a:path h="7434110" w="8464896">
                <a:moveTo>
                  <a:pt x="0" y="0"/>
                </a:moveTo>
                <a:lnTo>
                  <a:pt x="8464896" y="0"/>
                </a:lnTo>
                <a:lnTo>
                  <a:pt x="8464896" y="7434110"/>
                </a:lnTo>
                <a:lnTo>
                  <a:pt x="0" y="7434110"/>
                </a:lnTo>
                <a:lnTo>
                  <a:pt x="0" y="0"/>
                </a:lnTo>
                <a:close/>
              </a:path>
            </a:pathLst>
          </a:custGeom>
          <a:blipFill>
            <a:blip r:embed="rId3"/>
            <a:stretch>
              <a:fillRect l="-47" t="0" r="-47" b="0"/>
            </a:stretch>
          </a:blipFill>
        </p:spPr>
      </p:sp>
      <p:sp>
        <p:nvSpPr>
          <p:cNvPr name="TextBox 8" id="8"/>
          <p:cNvSpPr txBox="true"/>
          <p:nvPr/>
        </p:nvSpPr>
        <p:spPr>
          <a:xfrm rot="0">
            <a:off x="9705882" y="1711081"/>
            <a:ext cx="4009473" cy="667522"/>
          </a:xfrm>
          <a:prstGeom prst="rect">
            <a:avLst/>
          </a:prstGeom>
        </p:spPr>
        <p:txBody>
          <a:bodyPr anchor="t" rtlCol="false" tIns="0" lIns="0" bIns="0" rIns="0">
            <a:spAutoFit/>
          </a:bodyPr>
          <a:lstStyle/>
          <a:p>
            <a:pPr algn="l">
              <a:lnSpc>
                <a:spcPts val="5222"/>
              </a:lnSpc>
            </a:pPr>
            <a:r>
              <a:rPr lang="en-US" sz="4156" b="true">
                <a:solidFill>
                  <a:srgbClr val="F94CAF"/>
                </a:solidFill>
                <a:latin typeface="Arimo Bold"/>
                <a:ea typeface="Arimo Bold"/>
                <a:cs typeface="Arimo Bold"/>
                <a:sym typeface="Arimo Bold"/>
              </a:rPr>
              <a:t>Fitur Utama:</a:t>
            </a:r>
          </a:p>
        </p:txBody>
      </p:sp>
      <p:sp>
        <p:nvSpPr>
          <p:cNvPr name="TextBox 9" id="9"/>
          <p:cNvSpPr txBox="true"/>
          <p:nvPr/>
        </p:nvSpPr>
        <p:spPr>
          <a:xfrm rot="0">
            <a:off x="9705882" y="2673976"/>
            <a:ext cx="8171636" cy="536588"/>
          </a:xfrm>
          <a:prstGeom prst="rect">
            <a:avLst/>
          </a:prstGeom>
        </p:spPr>
        <p:txBody>
          <a:bodyPr anchor="t" rtlCol="false" tIns="0" lIns="0" bIns="0" rIns="0">
            <a:spAutoFit/>
          </a:bodyPr>
          <a:lstStyle/>
          <a:p>
            <a:pPr algn="l" marL="417889" indent="-208945" lvl="1">
              <a:lnSpc>
                <a:spcPts val="4476"/>
              </a:lnSpc>
              <a:buFont typeface="Arial"/>
              <a:buChar char="•"/>
            </a:pPr>
            <a:r>
              <a:rPr lang="en-US" sz="2770">
                <a:solidFill>
                  <a:srgbClr val="DAD1E6"/>
                </a:solidFill>
                <a:latin typeface="Fira Sans"/>
                <a:ea typeface="Fira Sans"/>
                <a:cs typeface="Fira Sans"/>
                <a:sym typeface="Fira Sans"/>
              </a:rPr>
              <a:t>Input lokasi langsung dari Peta Interaktif.</a:t>
            </a:r>
          </a:p>
        </p:txBody>
      </p:sp>
      <p:sp>
        <p:nvSpPr>
          <p:cNvPr name="TextBox 10" id="10"/>
          <p:cNvSpPr txBox="true"/>
          <p:nvPr/>
        </p:nvSpPr>
        <p:spPr>
          <a:xfrm rot="0">
            <a:off x="9705882" y="3371872"/>
            <a:ext cx="8171636" cy="1105053"/>
          </a:xfrm>
          <a:prstGeom prst="rect">
            <a:avLst/>
          </a:prstGeom>
        </p:spPr>
        <p:txBody>
          <a:bodyPr anchor="t" rtlCol="false" tIns="0" lIns="0" bIns="0" rIns="0">
            <a:spAutoFit/>
          </a:bodyPr>
          <a:lstStyle/>
          <a:p>
            <a:pPr algn="l" marL="417889" indent="-208945" lvl="1">
              <a:lnSpc>
                <a:spcPts val="4476"/>
              </a:lnSpc>
              <a:buFont typeface="Arial"/>
              <a:buChar char="•"/>
            </a:pPr>
            <a:r>
              <a:rPr lang="en-US" sz="2770">
                <a:solidFill>
                  <a:srgbClr val="DAD1E6"/>
                </a:solidFill>
                <a:latin typeface="Fira Sans"/>
                <a:ea typeface="Fira Sans"/>
                <a:cs typeface="Fira Sans"/>
                <a:sym typeface="Fira Sans"/>
              </a:rPr>
              <a:t>Navigasi langkah-demi-langkah (naik apa, turun di mana).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TextBox 6" id="6"/>
          <p:cNvSpPr txBox="true"/>
          <p:nvPr/>
        </p:nvSpPr>
        <p:spPr>
          <a:xfrm rot="0">
            <a:off x="992238" y="1823590"/>
            <a:ext cx="7088238"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Tahapan Pengembangan</a:t>
            </a:r>
          </a:p>
        </p:txBody>
      </p:sp>
      <p:sp>
        <p:nvSpPr>
          <p:cNvPr name="TextBox 7" id="7"/>
          <p:cNvSpPr txBox="true"/>
          <p:nvPr/>
        </p:nvSpPr>
        <p:spPr>
          <a:xfrm rot="0">
            <a:off x="992238" y="3228975"/>
            <a:ext cx="283521" cy="459134"/>
          </a:xfrm>
          <a:prstGeom prst="rect">
            <a:avLst/>
          </a:prstGeom>
        </p:spPr>
        <p:txBody>
          <a:bodyPr anchor="t" rtlCol="false" tIns="0" lIns="0" bIns="0" rIns="0">
            <a:spAutoFit/>
          </a:bodyPr>
          <a:lstStyle/>
          <a:p>
            <a:pPr algn="l">
              <a:lnSpc>
                <a:spcPts val="3562"/>
              </a:lnSpc>
            </a:pPr>
            <a:r>
              <a:rPr lang="en-US" sz="2187">
                <a:solidFill>
                  <a:srgbClr val="DAD1E6"/>
                </a:solidFill>
                <a:latin typeface="Arimo"/>
                <a:ea typeface="Arimo"/>
                <a:cs typeface="Arimo"/>
                <a:sym typeface="Arimo"/>
              </a:rPr>
              <a:t>01</a:t>
            </a:r>
          </a:p>
        </p:txBody>
      </p:sp>
      <p:sp>
        <p:nvSpPr>
          <p:cNvPr name="Freeform 8" id="8" descr="preencoded.png"/>
          <p:cNvSpPr/>
          <p:nvPr/>
        </p:nvSpPr>
        <p:spPr>
          <a:xfrm flipH="false" flipV="false" rot="0">
            <a:off x="992238" y="3777558"/>
            <a:ext cx="5245446" cy="38100"/>
          </a:xfrm>
          <a:custGeom>
            <a:avLst/>
            <a:gdLst/>
            <a:ahLst/>
            <a:cxnLst/>
            <a:rect r="r" b="b" t="t" l="l"/>
            <a:pathLst>
              <a:path h="38100" w="5245446">
                <a:moveTo>
                  <a:pt x="0" y="0"/>
                </a:moveTo>
                <a:lnTo>
                  <a:pt x="5245446" y="0"/>
                </a:lnTo>
                <a:lnTo>
                  <a:pt x="5245446" y="38100"/>
                </a:lnTo>
                <a:lnTo>
                  <a:pt x="0" y="38100"/>
                </a:lnTo>
                <a:lnTo>
                  <a:pt x="0" y="0"/>
                </a:lnTo>
                <a:close/>
              </a:path>
            </a:pathLst>
          </a:custGeom>
          <a:blipFill>
            <a:blip r:embed="rId3"/>
            <a:stretch>
              <a:fillRect l="-26" t="0" r="-27" b="0"/>
            </a:stretch>
          </a:blipFill>
        </p:spPr>
      </p:sp>
      <p:sp>
        <p:nvSpPr>
          <p:cNvPr name="TextBox 9" id="9"/>
          <p:cNvSpPr txBox="true"/>
          <p:nvPr/>
        </p:nvSpPr>
        <p:spPr>
          <a:xfrm rot="0">
            <a:off x="992238" y="3957342"/>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Analisis Kebutuhan</a:t>
            </a:r>
          </a:p>
        </p:txBody>
      </p:sp>
      <p:sp>
        <p:nvSpPr>
          <p:cNvPr name="TextBox 10" id="10"/>
          <p:cNvSpPr txBox="true"/>
          <p:nvPr/>
        </p:nvSpPr>
        <p:spPr>
          <a:xfrm rot="0">
            <a:off x="992238" y="4513212"/>
            <a:ext cx="5245446"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Studi kasus rute TransJakarta dan identifikasi masalah tarif ganda.</a:t>
            </a:r>
          </a:p>
        </p:txBody>
      </p:sp>
      <p:sp>
        <p:nvSpPr>
          <p:cNvPr name="TextBox 11" id="11"/>
          <p:cNvSpPr txBox="true"/>
          <p:nvPr/>
        </p:nvSpPr>
        <p:spPr>
          <a:xfrm rot="0">
            <a:off x="6521206" y="3228975"/>
            <a:ext cx="283521" cy="459134"/>
          </a:xfrm>
          <a:prstGeom prst="rect">
            <a:avLst/>
          </a:prstGeom>
        </p:spPr>
        <p:txBody>
          <a:bodyPr anchor="t" rtlCol="false" tIns="0" lIns="0" bIns="0" rIns="0">
            <a:spAutoFit/>
          </a:bodyPr>
          <a:lstStyle/>
          <a:p>
            <a:pPr algn="l">
              <a:lnSpc>
                <a:spcPts val="3562"/>
              </a:lnSpc>
            </a:pPr>
            <a:r>
              <a:rPr lang="en-US" sz="2187">
                <a:solidFill>
                  <a:srgbClr val="DAD1E6"/>
                </a:solidFill>
                <a:latin typeface="Arimo"/>
                <a:ea typeface="Arimo"/>
                <a:cs typeface="Arimo"/>
                <a:sym typeface="Arimo"/>
              </a:rPr>
              <a:t>02</a:t>
            </a:r>
          </a:p>
        </p:txBody>
      </p:sp>
      <p:sp>
        <p:nvSpPr>
          <p:cNvPr name="Freeform 12" id="12" descr="preencoded.png"/>
          <p:cNvSpPr/>
          <p:nvPr/>
        </p:nvSpPr>
        <p:spPr>
          <a:xfrm flipH="false" flipV="false" rot="0">
            <a:off x="6521206" y="3777558"/>
            <a:ext cx="5245446" cy="38100"/>
          </a:xfrm>
          <a:custGeom>
            <a:avLst/>
            <a:gdLst/>
            <a:ahLst/>
            <a:cxnLst/>
            <a:rect r="r" b="b" t="t" l="l"/>
            <a:pathLst>
              <a:path h="38100" w="5245446">
                <a:moveTo>
                  <a:pt x="0" y="0"/>
                </a:moveTo>
                <a:lnTo>
                  <a:pt x="5245446" y="0"/>
                </a:lnTo>
                <a:lnTo>
                  <a:pt x="5245446" y="38100"/>
                </a:lnTo>
                <a:lnTo>
                  <a:pt x="0" y="38100"/>
                </a:lnTo>
                <a:lnTo>
                  <a:pt x="0" y="0"/>
                </a:lnTo>
                <a:close/>
              </a:path>
            </a:pathLst>
          </a:custGeom>
          <a:blipFill>
            <a:blip r:embed="rId3"/>
            <a:stretch>
              <a:fillRect l="-26" t="0" r="-27" b="0"/>
            </a:stretch>
          </a:blipFill>
        </p:spPr>
      </p:sp>
      <p:sp>
        <p:nvSpPr>
          <p:cNvPr name="TextBox 13" id="13"/>
          <p:cNvSpPr txBox="true"/>
          <p:nvPr/>
        </p:nvSpPr>
        <p:spPr>
          <a:xfrm rot="0">
            <a:off x="6521206" y="3957342"/>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Pengumpulan Data</a:t>
            </a:r>
          </a:p>
        </p:txBody>
      </p:sp>
      <p:sp>
        <p:nvSpPr>
          <p:cNvPr name="TextBox 14" id="14"/>
          <p:cNvSpPr txBox="true"/>
          <p:nvPr/>
        </p:nvSpPr>
        <p:spPr>
          <a:xfrm rot="0">
            <a:off x="6521206" y="4513212"/>
            <a:ext cx="5245446"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Mengunduh dan memparsing data GTFS resmi TransJakarta.</a:t>
            </a:r>
          </a:p>
        </p:txBody>
      </p:sp>
      <p:sp>
        <p:nvSpPr>
          <p:cNvPr name="TextBox 15" id="15"/>
          <p:cNvSpPr txBox="true"/>
          <p:nvPr/>
        </p:nvSpPr>
        <p:spPr>
          <a:xfrm rot="0">
            <a:off x="12050163" y="3228975"/>
            <a:ext cx="283521" cy="459134"/>
          </a:xfrm>
          <a:prstGeom prst="rect">
            <a:avLst/>
          </a:prstGeom>
        </p:spPr>
        <p:txBody>
          <a:bodyPr anchor="t" rtlCol="false" tIns="0" lIns="0" bIns="0" rIns="0">
            <a:spAutoFit/>
          </a:bodyPr>
          <a:lstStyle/>
          <a:p>
            <a:pPr algn="l">
              <a:lnSpc>
                <a:spcPts val="3562"/>
              </a:lnSpc>
            </a:pPr>
            <a:r>
              <a:rPr lang="en-US" sz="2187">
                <a:solidFill>
                  <a:srgbClr val="DAD1E6"/>
                </a:solidFill>
                <a:latin typeface="Arimo"/>
                <a:ea typeface="Arimo"/>
                <a:cs typeface="Arimo"/>
                <a:sym typeface="Arimo"/>
              </a:rPr>
              <a:t>03</a:t>
            </a:r>
          </a:p>
        </p:txBody>
      </p:sp>
      <p:sp>
        <p:nvSpPr>
          <p:cNvPr name="Freeform 16" id="16" descr="preencoded.png"/>
          <p:cNvSpPr/>
          <p:nvPr/>
        </p:nvSpPr>
        <p:spPr>
          <a:xfrm flipH="false" flipV="false" rot="0">
            <a:off x="12050163" y="3777558"/>
            <a:ext cx="5245446" cy="38100"/>
          </a:xfrm>
          <a:custGeom>
            <a:avLst/>
            <a:gdLst/>
            <a:ahLst/>
            <a:cxnLst/>
            <a:rect r="r" b="b" t="t" l="l"/>
            <a:pathLst>
              <a:path h="38100" w="5245446">
                <a:moveTo>
                  <a:pt x="0" y="0"/>
                </a:moveTo>
                <a:lnTo>
                  <a:pt x="5245446" y="0"/>
                </a:lnTo>
                <a:lnTo>
                  <a:pt x="5245446" y="38100"/>
                </a:lnTo>
                <a:lnTo>
                  <a:pt x="0" y="38100"/>
                </a:lnTo>
                <a:lnTo>
                  <a:pt x="0" y="0"/>
                </a:lnTo>
                <a:close/>
              </a:path>
            </a:pathLst>
          </a:custGeom>
          <a:blipFill>
            <a:blip r:embed="rId3"/>
            <a:stretch>
              <a:fillRect l="-26" t="0" r="-27" b="0"/>
            </a:stretch>
          </a:blipFill>
        </p:spPr>
      </p:sp>
      <p:sp>
        <p:nvSpPr>
          <p:cNvPr name="TextBox 17" id="17"/>
          <p:cNvSpPr txBox="true"/>
          <p:nvPr/>
        </p:nvSpPr>
        <p:spPr>
          <a:xfrm rot="0">
            <a:off x="12050163" y="3957342"/>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Pengembangan Backend</a:t>
            </a:r>
          </a:p>
        </p:txBody>
      </p:sp>
      <p:sp>
        <p:nvSpPr>
          <p:cNvPr name="TextBox 18" id="18"/>
          <p:cNvSpPr txBox="true"/>
          <p:nvPr/>
        </p:nvSpPr>
        <p:spPr>
          <a:xfrm rot="0">
            <a:off x="12050163" y="4513212"/>
            <a:ext cx="5245446"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Membangun Routing Engine menggunakan Python dan NetworkX.</a:t>
            </a:r>
          </a:p>
        </p:txBody>
      </p:sp>
      <p:sp>
        <p:nvSpPr>
          <p:cNvPr name="TextBox 19" id="19"/>
          <p:cNvSpPr txBox="true"/>
          <p:nvPr/>
        </p:nvSpPr>
        <p:spPr>
          <a:xfrm rot="0">
            <a:off x="992238" y="5906986"/>
            <a:ext cx="283521" cy="459134"/>
          </a:xfrm>
          <a:prstGeom prst="rect">
            <a:avLst/>
          </a:prstGeom>
        </p:spPr>
        <p:txBody>
          <a:bodyPr anchor="t" rtlCol="false" tIns="0" lIns="0" bIns="0" rIns="0">
            <a:spAutoFit/>
          </a:bodyPr>
          <a:lstStyle/>
          <a:p>
            <a:pPr algn="l">
              <a:lnSpc>
                <a:spcPts val="3562"/>
              </a:lnSpc>
            </a:pPr>
            <a:r>
              <a:rPr lang="en-US" sz="2187">
                <a:solidFill>
                  <a:srgbClr val="DAD1E6"/>
                </a:solidFill>
                <a:latin typeface="Arimo"/>
                <a:ea typeface="Arimo"/>
                <a:cs typeface="Arimo"/>
                <a:sym typeface="Arimo"/>
              </a:rPr>
              <a:t>04</a:t>
            </a:r>
          </a:p>
        </p:txBody>
      </p:sp>
      <p:sp>
        <p:nvSpPr>
          <p:cNvPr name="Freeform 20" id="20" descr="preencoded.png"/>
          <p:cNvSpPr/>
          <p:nvPr/>
        </p:nvSpPr>
        <p:spPr>
          <a:xfrm flipH="false" flipV="false" rot="0">
            <a:off x="992238" y="6427146"/>
            <a:ext cx="8009934" cy="38100"/>
          </a:xfrm>
          <a:custGeom>
            <a:avLst/>
            <a:gdLst/>
            <a:ahLst/>
            <a:cxnLst/>
            <a:rect r="r" b="b" t="t" l="l"/>
            <a:pathLst>
              <a:path h="38100" w="8009934">
                <a:moveTo>
                  <a:pt x="0" y="0"/>
                </a:moveTo>
                <a:lnTo>
                  <a:pt x="8009935" y="0"/>
                </a:lnTo>
                <a:lnTo>
                  <a:pt x="8009935" y="38100"/>
                </a:lnTo>
                <a:lnTo>
                  <a:pt x="0" y="38100"/>
                </a:lnTo>
                <a:lnTo>
                  <a:pt x="0" y="0"/>
                </a:lnTo>
                <a:close/>
              </a:path>
            </a:pathLst>
          </a:custGeom>
          <a:blipFill>
            <a:blip r:embed="rId4"/>
            <a:stretch>
              <a:fillRect l="-3" t="0" r="-3" b="0"/>
            </a:stretch>
          </a:blipFill>
        </p:spPr>
      </p:sp>
      <p:sp>
        <p:nvSpPr>
          <p:cNvPr name="TextBox 21" id="21"/>
          <p:cNvSpPr txBox="true"/>
          <p:nvPr/>
        </p:nvSpPr>
        <p:spPr>
          <a:xfrm rot="0">
            <a:off x="992238" y="6635353"/>
            <a:ext cx="3719360"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Pengembangan Frontend</a:t>
            </a:r>
          </a:p>
        </p:txBody>
      </p:sp>
      <p:sp>
        <p:nvSpPr>
          <p:cNvPr name="TextBox 22" id="22"/>
          <p:cNvSpPr txBox="true"/>
          <p:nvPr/>
        </p:nvSpPr>
        <p:spPr>
          <a:xfrm rot="0">
            <a:off x="992238" y="7191223"/>
            <a:ext cx="8009934"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Membangun antarmuka peta interaktif berbasis Web.</a:t>
            </a:r>
          </a:p>
        </p:txBody>
      </p:sp>
      <p:sp>
        <p:nvSpPr>
          <p:cNvPr name="TextBox 23" id="23"/>
          <p:cNvSpPr txBox="true"/>
          <p:nvPr/>
        </p:nvSpPr>
        <p:spPr>
          <a:xfrm rot="0">
            <a:off x="9285684" y="5906986"/>
            <a:ext cx="283521" cy="459134"/>
          </a:xfrm>
          <a:prstGeom prst="rect">
            <a:avLst/>
          </a:prstGeom>
        </p:spPr>
        <p:txBody>
          <a:bodyPr anchor="t" rtlCol="false" tIns="0" lIns="0" bIns="0" rIns="0">
            <a:spAutoFit/>
          </a:bodyPr>
          <a:lstStyle/>
          <a:p>
            <a:pPr algn="l">
              <a:lnSpc>
                <a:spcPts val="3562"/>
              </a:lnSpc>
            </a:pPr>
            <a:r>
              <a:rPr lang="en-US" sz="2187">
                <a:solidFill>
                  <a:srgbClr val="DAD1E6"/>
                </a:solidFill>
                <a:latin typeface="Arimo"/>
                <a:ea typeface="Arimo"/>
                <a:cs typeface="Arimo"/>
                <a:sym typeface="Arimo"/>
              </a:rPr>
              <a:t>05</a:t>
            </a:r>
          </a:p>
        </p:txBody>
      </p:sp>
      <p:sp>
        <p:nvSpPr>
          <p:cNvPr name="Freeform 24" id="24" descr="preencoded.png"/>
          <p:cNvSpPr/>
          <p:nvPr/>
        </p:nvSpPr>
        <p:spPr>
          <a:xfrm flipH="false" flipV="false" rot="0">
            <a:off x="9285684" y="6427146"/>
            <a:ext cx="8009934" cy="38100"/>
          </a:xfrm>
          <a:custGeom>
            <a:avLst/>
            <a:gdLst/>
            <a:ahLst/>
            <a:cxnLst/>
            <a:rect r="r" b="b" t="t" l="l"/>
            <a:pathLst>
              <a:path h="38100" w="8009934">
                <a:moveTo>
                  <a:pt x="0" y="0"/>
                </a:moveTo>
                <a:lnTo>
                  <a:pt x="8009935" y="0"/>
                </a:lnTo>
                <a:lnTo>
                  <a:pt x="8009935" y="38100"/>
                </a:lnTo>
                <a:lnTo>
                  <a:pt x="0" y="38100"/>
                </a:lnTo>
                <a:lnTo>
                  <a:pt x="0" y="0"/>
                </a:lnTo>
                <a:close/>
              </a:path>
            </a:pathLst>
          </a:custGeom>
          <a:blipFill>
            <a:blip r:embed="rId4"/>
            <a:stretch>
              <a:fillRect l="-3" t="0" r="-3" b="0"/>
            </a:stretch>
          </a:blipFill>
        </p:spPr>
      </p:sp>
      <p:sp>
        <p:nvSpPr>
          <p:cNvPr name="TextBox 25" id="25"/>
          <p:cNvSpPr txBox="true"/>
          <p:nvPr/>
        </p:nvSpPr>
        <p:spPr>
          <a:xfrm rot="0">
            <a:off x="9285684" y="6635353"/>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Integrasi &amp; Testing</a:t>
            </a:r>
          </a:p>
        </p:txBody>
      </p:sp>
      <p:sp>
        <p:nvSpPr>
          <p:cNvPr name="TextBox 26" id="26"/>
          <p:cNvSpPr txBox="true"/>
          <p:nvPr/>
        </p:nvSpPr>
        <p:spPr>
          <a:xfrm rot="0">
            <a:off x="9285684" y="7191223"/>
            <a:ext cx="8009934"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Menghubungkan antarmuka dengan engine dan memvalidasi rute.</a:t>
            </a:r>
          </a:p>
        </p:txBody>
      </p:sp>
      <p:sp>
        <p:nvSpPr>
          <p:cNvPr name="Freeform 27" id="27" descr="preencoded.png"/>
          <p:cNvSpPr/>
          <p:nvPr/>
        </p:nvSpPr>
        <p:spPr>
          <a:xfrm flipH="false" flipV="false" rot="-5400000">
            <a:off x="2451425" y="2152721"/>
            <a:ext cx="152400" cy="3070774"/>
          </a:xfrm>
          <a:custGeom>
            <a:avLst/>
            <a:gdLst/>
            <a:ahLst/>
            <a:cxnLst/>
            <a:rect r="r" b="b" t="t" l="l"/>
            <a:pathLst>
              <a:path h="3070774" w="152400">
                <a:moveTo>
                  <a:pt x="0" y="0"/>
                </a:moveTo>
                <a:lnTo>
                  <a:pt x="152400" y="0"/>
                </a:lnTo>
                <a:lnTo>
                  <a:pt x="152400" y="3070775"/>
                </a:lnTo>
                <a:lnTo>
                  <a:pt x="0" y="3070775"/>
                </a:lnTo>
                <a:lnTo>
                  <a:pt x="0" y="0"/>
                </a:lnTo>
                <a:close/>
              </a:path>
            </a:pathLst>
          </a:custGeom>
          <a:blipFill>
            <a:blip r:embed="rId5"/>
            <a:stretch>
              <a:fillRect l="-62" t="0" r="-56" b="0"/>
            </a:stretch>
          </a:blipFill>
        </p:spPr>
      </p:sp>
      <p:sp>
        <p:nvSpPr>
          <p:cNvPr name="Freeform 28" id="28" descr="preencoded.png"/>
          <p:cNvSpPr/>
          <p:nvPr/>
        </p:nvSpPr>
        <p:spPr>
          <a:xfrm flipH="false" flipV="false" rot="-5400000">
            <a:off x="8004277" y="2174305"/>
            <a:ext cx="152400" cy="3070774"/>
          </a:xfrm>
          <a:custGeom>
            <a:avLst/>
            <a:gdLst/>
            <a:ahLst/>
            <a:cxnLst/>
            <a:rect r="r" b="b" t="t" l="l"/>
            <a:pathLst>
              <a:path h="3070774" w="152400">
                <a:moveTo>
                  <a:pt x="0" y="0"/>
                </a:moveTo>
                <a:lnTo>
                  <a:pt x="152400" y="0"/>
                </a:lnTo>
                <a:lnTo>
                  <a:pt x="152400" y="3070774"/>
                </a:lnTo>
                <a:lnTo>
                  <a:pt x="0" y="3070774"/>
                </a:lnTo>
                <a:lnTo>
                  <a:pt x="0" y="0"/>
                </a:lnTo>
                <a:close/>
              </a:path>
            </a:pathLst>
          </a:custGeom>
          <a:blipFill>
            <a:blip r:embed="rId5"/>
            <a:stretch>
              <a:fillRect l="-62" t="0" r="-56" b="0"/>
            </a:stretch>
          </a:blipFill>
        </p:spPr>
      </p:sp>
      <p:sp>
        <p:nvSpPr>
          <p:cNvPr name="Freeform 29" id="29" descr="preencoded.png"/>
          <p:cNvSpPr/>
          <p:nvPr/>
        </p:nvSpPr>
        <p:spPr>
          <a:xfrm flipH="false" flipV="false" rot="-5400000">
            <a:off x="13557128" y="2195889"/>
            <a:ext cx="152400" cy="3070774"/>
          </a:xfrm>
          <a:custGeom>
            <a:avLst/>
            <a:gdLst/>
            <a:ahLst/>
            <a:cxnLst/>
            <a:rect r="r" b="b" t="t" l="l"/>
            <a:pathLst>
              <a:path h="3070774" w="152400">
                <a:moveTo>
                  <a:pt x="0" y="0"/>
                </a:moveTo>
                <a:lnTo>
                  <a:pt x="152400" y="0"/>
                </a:lnTo>
                <a:lnTo>
                  <a:pt x="152400" y="3070774"/>
                </a:lnTo>
                <a:lnTo>
                  <a:pt x="0" y="3070774"/>
                </a:lnTo>
                <a:lnTo>
                  <a:pt x="0" y="0"/>
                </a:lnTo>
                <a:close/>
              </a:path>
            </a:pathLst>
          </a:custGeom>
          <a:blipFill>
            <a:blip r:embed="rId5"/>
            <a:stretch>
              <a:fillRect l="-62" t="0" r="-56" b="0"/>
            </a:stretch>
          </a:blipFill>
        </p:spPr>
      </p:sp>
      <p:sp>
        <p:nvSpPr>
          <p:cNvPr name="Freeform 30" id="30" descr="preencoded.png"/>
          <p:cNvSpPr/>
          <p:nvPr/>
        </p:nvSpPr>
        <p:spPr>
          <a:xfrm flipH="false" flipV="false" rot="-5400000">
            <a:off x="2451425" y="4891759"/>
            <a:ext cx="152400" cy="3070774"/>
          </a:xfrm>
          <a:custGeom>
            <a:avLst/>
            <a:gdLst/>
            <a:ahLst/>
            <a:cxnLst/>
            <a:rect r="r" b="b" t="t" l="l"/>
            <a:pathLst>
              <a:path h="3070774" w="152400">
                <a:moveTo>
                  <a:pt x="0" y="0"/>
                </a:moveTo>
                <a:lnTo>
                  <a:pt x="152400" y="0"/>
                </a:lnTo>
                <a:lnTo>
                  <a:pt x="152400" y="3070774"/>
                </a:lnTo>
                <a:lnTo>
                  <a:pt x="0" y="3070774"/>
                </a:lnTo>
                <a:lnTo>
                  <a:pt x="0" y="0"/>
                </a:lnTo>
                <a:close/>
              </a:path>
            </a:pathLst>
          </a:custGeom>
          <a:blipFill>
            <a:blip r:embed="rId5"/>
            <a:stretch>
              <a:fillRect l="-62" t="0" r="-56" b="0"/>
            </a:stretch>
          </a:blipFill>
        </p:spPr>
      </p:sp>
      <p:sp>
        <p:nvSpPr>
          <p:cNvPr name="Freeform 31" id="31" descr="preencoded.png"/>
          <p:cNvSpPr/>
          <p:nvPr/>
        </p:nvSpPr>
        <p:spPr>
          <a:xfrm flipH="false" flipV="false" rot="-5400000">
            <a:off x="10744872" y="4891759"/>
            <a:ext cx="152400" cy="3070774"/>
          </a:xfrm>
          <a:custGeom>
            <a:avLst/>
            <a:gdLst/>
            <a:ahLst/>
            <a:cxnLst/>
            <a:rect r="r" b="b" t="t" l="l"/>
            <a:pathLst>
              <a:path h="3070774" w="152400">
                <a:moveTo>
                  <a:pt x="0" y="0"/>
                </a:moveTo>
                <a:lnTo>
                  <a:pt x="152400" y="0"/>
                </a:lnTo>
                <a:lnTo>
                  <a:pt x="152400" y="3070774"/>
                </a:lnTo>
                <a:lnTo>
                  <a:pt x="0" y="3070774"/>
                </a:lnTo>
                <a:lnTo>
                  <a:pt x="0" y="0"/>
                </a:lnTo>
                <a:close/>
              </a:path>
            </a:pathLst>
          </a:custGeom>
          <a:blipFill>
            <a:blip r:embed="rId5"/>
            <a:stretch>
              <a:fillRect l="-62" t="0" r="-56"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Freeform 6" id="6" descr="preencoded.png"/>
          <p:cNvSpPr/>
          <p:nvPr/>
        </p:nvSpPr>
        <p:spPr>
          <a:xfrm flipH="false" flipV="false" rot="0">
            <a:off x="0" y="0"/>
            <a:ext cx="18288000" cy="3544043"/>
          </a:xfrm>
          <a:custGeom>
            <a:avLst/>
            <a:gdLst/>
            <a:ahLst/>
            <a:cxnLst/>
            <a:rect r="r" b="b" t="t" l="l"/>
            <a:pathLst>
              <a:path h="3544043" w="18288000">
                <a:moveTo>
                  <a:pt x="0" y="0"/>
                </a:moveTo>
                <a:lnTo>
                  <a:pt x="18288000" y="0"/>
                </a:lnTo>
                <a:lnTo>
                  <a:pt x="18288000" y="3544043"/>
                </a:lnTo>
                <a:lnTo>
                  <a:pt x="0" y="3544043"/>
                </a:lnTo>
                <a:lnTo>
                  <a:pt x="0" y="0"/>
                </a:lnTo>
                <a:close/>
              </a:path>
            </a:pathLst>
          </a:custGeom>
          <a:blipFill>
            <a:blip r:embed="rId3"/>
            <a:stretch>
              <a:fillRect l="-10" t="0" r="-10" b="0"/>
            </a:stretch>
          </a:blipFill>
        </p:spPr>
      </p:sp>
      <p:sp>
        <p:nvSpPr>
          <p:cNvPr name="TextBox 7" id="7"/>
          <p:cNvSpPr txBox="true"/>
          <p:nvPr/>
        </p:nvSpPr>
        <p:spPr>
          <a:xfrm rot="0">
            <a:off x="992238" y="4457405"/>
            <a:ext cx="8504634"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Teknologi yang Digunakan</a:t>
            </a:r>
          </a:p>
        </p:txBody>
      </p:sp>
      <p:sp>
        <p:nvSpPr>
          <p:cNvPr name="Freeform 8" id="8" descr="preencoded.png"/>
          <p:cNvSpPr/>
          <p:nvPr/>
        </p:nvSpPr>
        <p:spPr>
          <a:xfrm flipH="false" flipV="false" rot="0">
            <a:off x="992238" y="5825728"/>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4">
              <a:extLst>
                <a:ext uri="{96DAC541-7B7A-43D3-8B79-37D633B846F1}">
                  <asvg:svgBlip xmlns:asvg="http://schemas.microsoft.com/office/drawing/2016/SVG/main" r:embed="rId5"/>
                </a:ext>
              </a:extLst>
            </a:blip>
            <a:stretch>
              <a:fillRect l="0" t="-6666" r="0" b="-6667"/>
            </a:stretch>
          </a:blipFill>
        </p:spPr>
      </p:sp>
      <p:sp>
        <p:nvSpPr>
          <p:cNvPr name="TextBox 9" id="9"/>
          <p:cNvSpPr txBox="true"/>
          <p:nvPr/>
        </p:nvSpPr>
        <p:spPr>
          <a:xfrm rot="0">
            <a:off x="2055314" y="5955954"/>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Python</a:t>
            </a:r>
          </a:p>
        </p:txBody>
      </p:sp>
      <p:sp>
        <p:nvSpPr>
          <p:cNvPr name="TextBox 10" id="10"/>
          <p:cNvSpPr txBox="true"/>
          <p:nvPr/>
        </p:nvSpPr>
        <p:spPr>
          <a:xfrm rot="0">
            <a:off x="2055314" y="6511823"/>
            <a:ext cx="6911426"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Untuk Backend dan algoritma routing (NetworkX, Pandas).</a:t>
            </a:r>
          </a:p>
        </p:txBody>
      </p:sp>
      <p:sp>
        <p:nvSpPr>
          <p:cNvPr name="Freeform 11" id="11" descr="preencoded.png"/>
          <p:cNvSpPr/>
          <p:nvPr/>
        </p:nvSpPr>
        <p:spPr>
          <a:xfrm flipH="false" flipV="false" rot="0">
            <a:off x="9321108" y="5825728"/>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6">
              <a:extLst>
                <a:ext uri="{96DAC541-7B7A-43D3-8B79-37D633B846F1}">
                  <asvg:svgBlip xmlns:asvg="http://schemas.microsoft.com/office/drawing/2016/SVG/main" r:embed="rId7"/>
                </a:ext>
              </a:extLst>
            </a:blip>
            <a:stretch>
              <a:fillRect l="-12000" t="0" r="-12000" b="0"/>
            </a:stretch>
          </a:blipFill>
        </p:spPr>
      </p:sp>
      <p:sp>
        <p:nvSpPr>
          <p:cNvPr name="TextBox 12" id="12"/>
          <p:cNvSpPr txBox="true"/>
          <p:nvPr/>
        </p:nvSpPr>
        <p:spPr>
          <a:xfrm rot="0">
            <a:off x="10384184" y="5955954"/>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Node.js</a:t>
            </a:r>
          </a:p>
        </p:txBody>
      </p:sp>
      <p:sp>
        <p:nvSpPr>
          <p:cNvPr name="TextBox 13" id="13"/>
          <p:cNvSpPr txBox="true"/>
          <p:nvPr/>
        </p:nvSpPr>
        <p:spPr>
          <a:xfrm rot="0">
            <a:off x="10384184" y="6511823"/>
            <a:ext cx="6911578"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Dengan Next.js untuk pengembangan Frontend.</a:t>
            </a:r>
          </a:p>
        </p:txBody>
      </p:sp>
      <p:sp>
        <p:nvSpPr>
          <p:cNvPr name="Freeform 14" id="14" descr="preencoded.png"/>
          <p:cNvSpPr/>
          <p:nvPr/>
        </p:nvSpPr>
        <p:spPr>
          <a:xfrm flipH="false" flipV="false" rot="0">
            <a:off x="992238" y="8081372"/>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8">
              <a:extLst>
                <a:ext uri="{96DAC541-7B7A-43D3-8B79-37D633B846F1}">
                  <asvg:svgBlip xmlns:asvg="http://schemas.microsoft.com/office/drawing/2016/SVG/main" r:embed="rId9"/>
                </a:ext>
              </a:extLst>
            </a:blip>
            <a:stretch>
              <a:fillRect l="-14666" t="0" r="-14666" b="0"/>
            </a:stretch>
          </a:blipFill>
        </p:spPr>
      </p:sp>
      <p:sp>
        <p:nvSpPr>
          <p:cNvPr name="TextBox 15" id="15"/>
          <p:cNvSpPr txBox="true"/>
          <p:nvPr/>
        </p:nvSpPr>
        <p:spPr>
          <a:xfrm rot="0">
            <a:off x="2055314" y="8211588"/>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VS Code</a:t>
            </a:r>
          </a:p>
        </p:txBody>
      </p:sp>
      <p:sp>
        <p:nvSpPr>
          <p:cNvPr name="TextBox 16" id="16"/>
          <p:cNvSpPr txBox="true"/>
          <p:nvPr/>
        </p:nvSpPr>
        <p:spPr>
          <a:xfrm rot="0">
            <a:off x="2055314" y="8767467"/>
            <a:ext cx="6911426"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Lingkungan pengembangan terintegrasi (IDE).</a:t>
            </a:r>
          </a:p>
        </p:txBody>
      </p:sp>
      <p:sp>
        <p:nvSpPr>
          <p:cNvPr name="Freeform 17" id="17" descr="preencoded.png"/>
          <p:cNvSpPr/>
          <p:nvPr/>
        </p:nvSpPr>
        <p:spPr>
          <a:xfrm flipH="false" flipV="false" rot="0">
            <a:off x="9321108" y="8081372"/>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10">
              <a:extLst>
                <a:ext uri="{96DAC541-7B7A-43D3-8B79-37D633B846F1}">
                  <asvg:svgBlip xmlns:asvg="http://schemas.microsoft.com/office/drawing/2016/SVG/main" r:embed="rId11"/>
                </a:ext>
              </a:extLst>
            </a:blip>
            <a:stretch>
              <a:fillRect l="0" t="-6666" r="0" b="-6667"/>
            </a:stretch>
          </a:blipFill>
        </p:spPr>
      </p:sp>
      <p:sp>
        <p:nvSpPr>
          <p:cNvPr name="TextBox 18" id="18"/>
          <p:cNvSpPr txBox="true"/>
          <p:nvPr/>
        </p:nvSpPr>
        <p:spPr>
          <a:xfrm rot="0">
            <a:off x="10384184" y="8211588"/>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Git</a:t>
            </a:r>
          </a:p>
        </p:txBody>
      </p:sp>
      <p:sp>
        <p:nvSpPr>
          <p:cNvPr name="TextBox 19" id="19"/>
          <p:cNvSpPr txBox="true"/>
          <p:nvPr/>
        </p:nvSpPr>
        <p:spPr>
          <a:xfrm rot="0">
            <a:off x="10384184" y="8767467"/>
            <a:ext cx="6911578"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Untuk kontrol versi proyek.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grpSp>
        <p:nvGrpSpPr>
          <p:cNvPr name="Group 6" id="6"/>
          <p:cNvGrpSpPr/>
          <p:nvPr/>
        </p:nvGrpSpPr>
        <p:grpSpPr>
          <a:xfrm rot="0">
            <a:off x="992238" y="3631254"/>
            <a:ext cx="8009934" cy="2096986"/>
            <a:chOff x="0" y="0"/>
            <a:chExt cx="10679913" cy="2795981"/>
          </a:xfrm>
        </p:grpSpPr>
        <p:sp>
          <p:nvSpPr>
            <p:cNvPr name="Freeform 7" id="7"/>
            <p:cNvSpPr/>
            <p:nvPr/>
          </p:nvSpPr>
          <p:spPr>
            <a:xfrm flipH="false" flipV="false" rot="0">
              <a:off x="0" y="0"/>
              <a:ext cx="10679938" cy="2796032"/>
            </a:xfrm>
            <a:custGeom>
              <a:avLst/>
              <a:gdLst/>
              <a:ahLst/>
              <a:cxnLst/>
              <a:rect r="r" b="b" t="t" l="l"/>
              <a:pathLst>
                <a:path h="2796032" w="10679938">
                  <a:moveTo>
                    <a:pt x="0" y="243840"/>
                  </a:moveTo>
                  <a:cubicBezTo>
                    <a:pt x="0" y="109220"/>
                    <a:pt x="109220" y="0"/>
                    <a:pt x="243840" y="0"/>
                  </a:cubicBezTo>
                  <a:lnTo>
                    <a:pt x="10436098" y="0"/>
                  </a:lnTo>
                  <a:cubicBezTo>
                    <a:pt x="10570718" y="0"/>
                    <a:pt x="10679938" y="109220"/>
                    <a:pt x="10679938" y="243840"/>
                  </a:cubicBezTo>
                  <a:lnTo>
                    <a:pt x="10679938" y="2552192"/>
                  </a:lnTo>
                  <a:cubicBezTo>
                    <a:pt x="10679938" y="2686812"/>
                    <a:pt x="10570718" y="2796032"/>
                    <a:pt x="10436098" y="2796032"/>
                  </a:cubicBezTo>
                  <a:lnTo>
                    <a:pt x="243840" y="2796032"/>
                  </a:lnTo>
                  <a:cubicBezTo>
                    <a:pt x="109220" y="2796032"/>
                    <a:pt x="0" y="2686812"/>
                    <a:pt x="0" y="2552192"/>
                  </a:cubicBezTo>
                  <a:close/>
                </a:path>
              </a:pathLst>
            </a:custGeom>
            <a:solidFill>
              <a:srgbClr val="241631"/>
            </a:solidFill>
            <a:ln w="12700">
              <a:solidFill>
                <a:srgbClr val="000000"/>
              </a:solidFill>
            </a:ln>
          </p:spPr>
        </p:sp>
      </p:grpSp>
      <p:sp>
        <p:nvSpPr>
          <p:cNvPr name="Freeform 8" id="8" descr="preencoded.png"/>
          <p:cNvSpPr/>
          <p:nvPr/>
        </p:nvSpPr>
        <p:spPr>
          <a:xfrm flipH="false" flipV="false" rot="0">
            <a:off x="992238" y="3593154"/>
            <a:ext cx="8009934" cy="152400"/>
          </a:xfrm>
          <a:custGeom>
            <a:avLst/>
            <a:gdLst/>
            <a:ahLst/>
            <a:cxnLst/>
            <a:rect r="r" b="b" t="t" l="l"/>
            <a:pathLst>
              <a:path h="152400" w="8009934">
                <a:moveTo>
                  <a:pt x="0" y="0"/>
                </a:moveTo>
                <a:lnTo>
                  <a:pt x="8009935" y="0"/>
                </a:lnTo>
                <a:lnTo>
                  <a:pt x="8009935" y="152400"/>
                </a:lnTo>
                <a:lnTo>
                  <a:pt x="0" y="152400"/>
                </a:lnTo>
                <a:lnTo>
                  <a:pt x="0" y="0"/>
                </a:lnTo>
                <a:close/>
              </a:path>
            </a:pathLst>
          </a:custGeom>
          <a:blipFill>
            <a:blip r:embed="rId3"/>
            <a:stretch>
              <a:fillRect l="-3" t="0" r="-3" b="0"/>
            </a:stretch>
          </a:blipFill>
        </p:spPr>
      </p:sp>
      <p:sp>
        <p:nvSpPr>
          <p:cNvPr name="Freeform 9" id="9" descr="preencoded.png"/>
          <p:cNvSpPr/>
          <p:nvPr/>
        </p:nvSpPr>
        <p:spPr>
          <a:xfrm flipH="false" flipV="false" rot="0">
            <a:off x="4571924" y="3206058"/>
            <a:ext cx="850554" cy="850554"/>
          </a:xfrm>
          <a:custGeom>
            <a:avLst/>
            <a:gdLst/>
            <a:ahLst/>
            <a:cxnLst/>
            <a:rect r="r" b="b" t="t" l="l"/>
            <a:pathLst>
              <a:path h="850554" w="850554">
                <a:moveTo>
                  <a:pt x="0" y="0"/>
                </a:moveTo>
                <a:lnTo>
                  <a:pt x="850554" y="0"/>
                </a:lnTo>
                <a:lnTo>
                  <a:pt x="850554" y="850554"/>
                </a:lnTo>
                <a:lnTo>
                  <a:pt x="0" y="850554"/>
                </a:lnTo>
                <a:lnTo>
                  <a:pt x="0" y="0"/>
                </a:lnTo>
                <a:close/>
              </a:path>
            </a:pathLst>
          </a:custGeom>
          <a:blipFill>
            <a:blip r:embed="rId4"/>
            <a:stretch>
              <a:fillRect l="0" t="0" r="0" b="0"/>
            </a:stretch>
          </a:blipFill>
        </p:spPr>
      </p:sp>
      <p:grpSp>
        <p:nvGrpSpPr>
          <p:cNvPr name="Group 10" id="10"/>
          <p:cNvGrpSpPr/>
          <p:nvPr/>
        </p:nvGrpSpPr>
        <p:grpSpPr>
          <a:xfrm rot="0">
            <a:off x="4765865" y="3401212"/>
            <a:ext cx="462519" cy="4625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4CAF"/>
            </a:solidFill>
          </p:spPr>
        </p:sp>
        <p:sp>
          <p:nvSpPr>
            <p:cNvPr name="TextBox 12" id="12"/>
            <p:cNvSpPr txBox="true"/>
            <p:nvPr/>
          </p:nvSpPr>
          <p:spPr>
            <a:xfrm>
              <a:off x="76200" y="-19050"/>
              <a:ext cx="660400" cy="755650"/>
            </a:xfrm>
            <a:prstGeom prst="rect">
              <a:avLst/>
            </a:prstGeom>
          </p:spPr>
          <p:txBody>
            <a:bodyPr anchor="ctr" rtlCol="false" tIns="50800" lIns="50800" bIns="50800" rIns="50800"/>
            <a:lstStyle/>
            <a:p>
              <a:pPr algn="ctr">
                <a:lnSpc>
                  <a:spcPts val="3562"/>
                </a:lnSpc>
              </a:pPr>
            </a:p>
          </p:txBody>
        </p:sp>
      </p:grpSp>
      <p:sp>
        <p:nvSpPr>
          <p:cNvPr name="Freeform 13" id="13" descr="preencoded.png"/>
          <p:cNvSpPr/>
          <p:nvPr/>
        </p:nvSpPr>
        <p:spPr>
          <a:xfrm flipH="false" flipV="false" rot="0">
            <a:off x="4827013" y="3461147"/>
            <a:ext cx="340223" cy="340223"/>
          </a:xfrm>
          <a:custGeom>
            <a:avLst/>
            <a:gdLst/>
            <a:ahLst/>
            <a:cxnLst/>
            <a:rect r="r" b="b" t="t" l="l"/>
            <a:pathLst>
              <a:path h="340223" w="340223">
                <a:moveTo>
                  <a:pt x="0" y="0"/>
                </a:moveTo>
                <a:lnTo>
                  <a:pt x="340223" y="0"/>
                </a:lnTo>
                <a:lnTo>
                  <a:pt x="340223" y="340223"/>
                </a:lnTo>
                <a:lnTo>
                  <a:pt x="0" y="340223"/>
                </a:lnTo>
                <a:lnTo>
                  <a:pt x="0" y="0"/>
                </a:lnTo>
                <a:close/>
              </a:path>
            </a:pathLst>
          </a:custGeom>
          <a:blipFill>
            <a:blip r:embed="rId5">
              <a:extLst>
                <a:ext uri="{96DAC541-7B7A-43D3-8B79-37D633B846F1}">
                  <asvg:svgBlip xmlns:asvg="http://schemas.microsoft.com/office/drawing/2016/SVG/main" r:embed="rId6"/>
                </a:ext>
              </a:extLst>
            </a:blip>
            <a:stretch>
              <a:fillRect l="0" t="-1388" r="0" b="-1388"/>
            </a:stretch>
          </a:blipFill>
        </p:spPr>
      </p:sp>
      <p:grpSp>
        <p:nvGrpSpPr>
          <p:cNvPr name="Group 14" id="14"/>
          <p:cNvGrpSpPr/>
          <p:nvPr/>
        </p:nvGrpSpPr>
        <p:grpSpPr>
          <a:xfrm rot="0">
            <a:off x="9285684" y="3631254"/>
            <a:ext cx="8010077" cy="2096986"/>
            <a:chOff x="0" y="0"/>
            <a:chExt cx="10680103" cy="2795981"/>
          </a:xfrm>
        </p:grpSpPr>
        <p:sp>
          <p:nvSpPr>
            <p:cNvPr name="Freeform 15" id="15"/>
            <p:cNvSpPr/>
            <p:nvPr/>
          </p:nvSpPr>
          <p:spPr>
            <a:xfrm flipH="false" flipV="false" rot="0">
              <a:off x="0" y="0"/>
              <a:ext cx="10680065" cy="2796032"/>
            </a:xfrm>
            <a:custGeom>
              <a:avLst/>
              <a:gdLst/>
              <a:ahLst/>
              <a:cxnLst/>
              <a:rect r="r" b="b" t="t" l="l"/>
              <a:pathLst>
                <a:path h="2796032" w="10680065">
                  <a:moveTo>
                    <a:pt x="0" y="243840"/>
                  </a:moveTo>
                  <a:cubicBezTo>
                    <a:pt x="0" y="109220"/>
                    <a:pt x="109220" y="0"/>
                    <a:pt x="243840" y="0"/>
                  </a:cubicBezTo>
                  <a:lnTo>
                    <a:pt x="10436225" y="0"/>
                  </a:lnTo>
                  <a:cubicBezTo>
                    <a:pt x="10570845" y="0"/>
                    <a:pt x="10680065" y="109220"/>
                    <a:pt x="10680065" y="243840"/>
                  </a:cubicBezTo>
                  <a:lnTo>
                    <a:pt x="10680065" y="2552192"/>
                  </a:lnTo>
                  <a:cubicBezTo>
                    <a:pt x="10680065" y="2686812"/>
                    <a:pt x="10570845" y="2796032"/>
                    <a:pt x="10436225" y="2796032"/>
                  </a:cubicBezTo>
                  <a:lnTo>
                    <a:pt x="243840" y="2796032"/>
                  </a:lnTo>
                  <a:cubicBezTo>
                    <a:pt x="109220" y="2796032"/>
                    <a:pt x="0" y="2686812"/>
                    <a:pt x="0" y="2552192"/>
                  </a:cubicBezTo>
                  <a:close/>
                </a:path>
              </a:pathLst>
            </a:custGeom>
            <a:solidFill>
              <a:srgbClr val="241631"/>
            </a:solidFill>
            <a:ln w="12700">
              <a:solidFill>
                <a:srgbClr val="000000"/>
              </a:solidFill>
            </a:ln>
          </p:spPr>
        </p:sp>
      </p:grpSp>
      <p:sp>
        <p:nvSpPr>
          <p:cNvPr name="Freeform 16" id="16" descr="preencoded.png"/>
          <p:cNvSpPr/>
          <p:nvPr/>
        </p:nvSpPr>
        <p:spPr>
          <a:xfrm flipH="false" flipV="false" rot="0">
            <a:off x="9285684" y="3593154"/>
            <a:ext cx="8010077" cy="152400"/>
          </a:xfrm>
          <a:custGeom>
            <a:avLst/>
            <a:gdLst/>
            <a:ahLst/>
            <a:cxnLst/>
            <a:rect r="r" b="b" t="t" l="l"/>
            <a:pathLst>
              <a:path h="152400" w="8010077">
                <a:moveTo>
                  <a:pt x="0" y="0"/>
                </a:moveTo>
                <a:lnTo>
                  <a:pt x="8010078" y="0"/>
                </a:lnTo>
                <a:lnTo>
                  <a:pt x="8010078" y="152400"/>
                </a:lnTo>
                <a:lnTo>
                  <a:pt x="0" y="152400"/>
                </a:lnTo>
                <a:lnTo>
                  <a:pt x="0" y="0"/>
                </a:lnTo>
                <a:close/>
              </a:path>
            </a:pathLst>
          </a:custGeom>
          <a:blipFill>
            <a:blip r:embed="rId3"/>
            <a:stretch>
              <a:fillRect l="-2" t="0" r="-2" b="0"/>
            </a:stretch>
          </a:blipFill>
        </p:spPr>
      </p:sp>
      <p:sp>
        <p:nvSpPr>
          <p:cNvPr name="Freeform 17" id="17" descr="preencoded.png"/>
          <p:cNvSpPr/>
          <p:nvPr/>
        </p:nvSpPr>
        <p:spPr>
          <a:xfrm flipH="false" flipV="false" rot="0">
            <a:off x="12865370" y="3206058"/>
            <a:ext cx="850554" cy="850554"/>
          </a:xfrm>
          <a:custGeom>
            <a:avLst/>
            <a:gdLst/>
            <a:ahLst/>
            <a:cxnLst/>
            <a:rect r="r" b="b" t="t" l="l"/>
            <a:pathLst>
              <a:path h="850554" w="850554">
                <a:moveTo>
                  <a:pt x="0" y="0"/>
                </a:moveTo>
                <a:lnTo>
                  <a:pt x="850554" y="0"/>
                </a:lnTo>
                <a:lnTo>
                  <a:pt x="850554" y="850554"/>
                </a:lnTo>
                <a:lnTo>
                  <a:pt x="0" y="850554"/>
                </a:lnTo>
                <a:lnTo>
                  <a:pt x="0" y="0"/>
                </a:lnTo>
                <a:close/>
              </a:path>
            </a:pathLst>
          </a:custGeom>
          <a:blipFill>
            <a:blip r:embed="rId4"/>
            <a:stretch>
              <a:fillRect l="0" t="0" r="0" b="0"/>
            </a:stretch>
          </a:blipFill>
        </p:spPr>
      </p:sp>
      <p:grpSp>
        <p:nvGrpSpPr>
          <p:cNvPr name="Group 18" id="18"/>
          <p:cNvGrpSpPr/>
          <p:nvPr/>
        </p:nvGrpSpPr>
        <p:grpSpPr>
          <a:xfrm rot="0">
            <a:off x="13059468" y="3400075"/>
            <a:ext cx="462519" cy="46251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4CAF"/>
            </a:solidFill>
          </p:spPr>
        </p:sp>
        <p:sp>
          <p:nvSpPr>
            <p:cNvPr name="TextBox 20" id="20"/>
            <p:cNvSpPr txBox="true"/>
            <p:nvPr/>
          </p:nvSpPr>
          <p:spPr>
            <a:xfrm>
              <a:off x="76200" y="-19050"/>
              <a:ext cx="660400" cy="755650"/>
            </a:xfrm>
            <a:prstGeom prst="rect">
              <a:avLst/>
            </a:prstGeom>
          </p:spPr>
          <p:txBody>
            <a:bodyPr anchor="ctr" rtlCol="false" tIns="50800" lIns="50800" bIns="50800" rIns="50800"/>
            <a:lstStyle/>
            <a:p>
              <a:pPr algn="ctr">
                <a:lnSpc>
                  <a:spcPts val="3562"/>
                </a:lnSpc>
              </a:pPr>
            </a:p>
          </p:txBody>
        </p:sp>
      </p:grpSp>
      <p:sp>
        <p:nvSpPr>
          <p:cNvPr name="Freeform 21" id="21" descr="preencoded.png"/>
          <p:cNvSpPr/>
          <p:nvPr/>
        </p:nvSpPr>
        <p:spPr>
          <a:xfrm flipH="false" flipV="false" rot="0">
            <a:off x="13120468" y="3461147"/>
            <a:ext cx="340223" cy="340223"/>
          </a:xfrm>
          <a:custGeom>
            <a:avLst/>
            <a:gdLst/>
            <a:ahLst/>
            <a:cxnLst/>
            <a:rect r="r" b="b" t="t" l="l"/>
            <a:pathLst>
              <a:path h="340223" w="340223">
                <a:moveTo>
                  <a:pt x="0" y="0"/>
                </a:moveTo>
                <a:lnTo>
                  <a:pt x="340224" y="0"/>
                </a:lnTo>
                <a:lnTo>
                  <a:pt x="340224" y="340223"/>
                </a:lnTo>
                <a:lnTo>
                  <a:pt x="0" y="340223"/>
                </a:lnTo>
                <a:lnTo>
                  <a:pt x="0" y="0"/>
                </a:lnTo>
                <a:close/>
              </a:path>
            </a:pathLst>
          </a:custGeom>
          <a:blipFill>
            <a:blip r:embed="rId7">
              <a:extLst>
                <a:ext uri="{96DAC541-7B7A-43D3-8B79-37D633B846F1}">
                  <asvg:svgBlip xmlns:asvg="http://schemas.microsoft.com/office/drawing/2016/SVG/main" r:embed="rId8"/>
                </a:ext>
              </a:extLst>
            </a:blip>
            <a:stretch>
              <a:fillRect l="0" t="-6943" r="0" b="-6945"/>
            </a:stretch>
          </a:blipFill>
        </p:spPr>
      </p:sp>
      <p:grpSp>
        <p:nvGrpSpPr>
          <p:cNvPr name="Group 22" id="22"/>
          <p:cNvGrpSpPr/>
          <p:nvPr/>
        </p:nvGrpSpPr>
        <p:grpSpPr>
          <a:xfrm rot="0">
            <a:off x="992238" y="6436966"/>
            <a:ext cx="8009934" cy="2096986"/>
            <a:chOff x="0" y="0"/>
            <a:chExt cx="10679913" cy="2795981"/>
          </a:xfrm>
        </p:grpSpPr>
        <p:sp>
          <p:nvSpPr>
            <p:cNvPr name="Freeform 23" id="23"/>
            <p:cNvSpPr/>
            <p:nvPr/>
          </p:nvSpPr>
          <p:spPr>
            <a:xfrm flipH="false" flipV="false" rot="0">
              <a:off x="0" y="0"/>
              <a:ext cx="10679938" cy="2796032"/>
            </a:xfrm>
            <a:custGeom>
              <a:avLst/>
              <a:gdLst/>
              <a:ahLst/>
              <a:cxnLst/>
              <a:rect r="r" b="b" t="t" l="l"/>
              <a:pathLst>
                <a:path h="2796032" w="10679938">
                  <a:moveTo>
                    <a:pt x="0" y="243840"/>
                  </a:moveTo>
                  <a:cubicBezTo>
                    <a:pt x="0" y="109220"/>
                    <a:pt x="109220" y="0"/>
                    <a:pt x="243840" y="0"/>
                  </a:cubicBezTo>
                  <a:lnTo>
                    <a:pt x="10436098" y="0"/>
                  </a:lnTo>
                  <a:cubicBezTo>
                    <a:pt x="10570718" y="0"/>
                    <a:pt x="10679938" y="109220"/>
                    <a:pt x="10679938" y="243840"/>
                  </a:cubicBezTo>
                  <a:lnTo>
                    <a:pt x="10679938" y="2552192"/>
                  </a:lnTo>
                  <a:cubicBezTo>
                    <a:pt x="10679938" y="2686812"/>
                    <a:pt x="10570718" y="2796032"/>
                    <a:pt x="10436098" y="2796032"/>
                  </a:cubicBezTo>
                  <a:lnTo>
                    <a:pt x="243840" y="2796032"/>
                  </a:lnTo>
                  <a:cubicBezTo>
                    <a:pt x="109220" y="2796032"/>
                    <a:pt x="0" y="2686812"/>
                    <a:pt x="0" y="2552192"/>
                  </a:cubicBezTo>
                  <a:close/>
                </a:path>
              </a:pathLst>
            </a:custGeom>
            <a:solidFill>
              <a:srgbClr val="241631"/>
            </a:solidFill>
            <a:ln w="12700">
              <a:solidFill>
                <a:srgbClr val="000000"/>
              </a:solidFill>
            </a:ln>
          </p:spPr>
        </p:sp>
      </p:grpSp>
      <p:grpSp>
        <p:nvGrpSpPr>
          <p:cNvPr name="Group 24" id="24"/>
          <p:cNvGrpSpPr/>
          <p:nvPr/>
        </p:nvGrpSpPr>
        <p:grpSpPr>
          <a:xfrm rot="0">
            <a:off x="4765946" y="6205778"/>
            <a:ext cx="462519" cy="46251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4CAF"/>
            </a:solidFill>
          </p:spPr>
        </p:sp>
        <p:sp>
          <p:nvSpPr>
            <p:cNvPr name="TextBox 26" id="26"/>
            <p:cNvSpPr txBox="true"/>
            <p:nvPr/>
          </p:nvSpPr>
          <p:spPr>
            <a:xfrm>
              <a:off x="76200" y="-19050"/>
              <a:ext cx="660400" cy="755650"/>
            </a:xfrm>
            <a:prstGeom prst="rect">
              <a:avLst/>
            </a:prstGeom>
          </p:spPr>
          <p:txBody>
            <a:bodyPr anchor="ctr" rtlCol="false" tIns="50800" lIns="50800" bIns="50800" rIns="50800"/>
            <a:lstStyle/>
            <a:p>
              <a:pPr algn="ctr">
                <a:lnSpc>
                  <a:spcPts val="3562"/>
                </a:lnSpc>
              </a:pPr>
            </a:p>
          </p:txBody>
        </p:sp>
      </p:grpSp>
      <p:sp>
        <p:nvSpPr>
          <p:cNvPr name="Freeform 27" id="27" descr="preencoded.png"/>
          <p:cNvSpPr/>
          <p:nvPr/>
        </p:nvSpPr>
        <p:spPr>
          <a:xfrm flipH="false" flipV="false" rot="0">
            <a:off x="992238" y="6398866"/>
            <a:ext cx="8009934" cy="152400"/>
          </a:xfrm>
          <a:custGeom>
            <a:avLst/>
            <a:gdLst/>
            <a:ahLst/>
            <a:cxnLst/>
            <a:rect r="r" b="b" t="t" l="l"/>
            <a:pathLst>
              <a:path h="152400" w="8009934">
                <a:moveTo>
                  <a:pt x="0" y="0"/>
                </a:moveTo>
                <a:lnTo>
                  <a:pt x="8009935" y="0"/>
                </a:lnTo>
                <a:lnTo>
                  <a:pt x="8009935" y="152400"/>
                </a:lnTo>
                <a:lnTo>
                  <a:pt x="0" y="152400"/>
                </a:lnTo>
                <a:lnTo>
                  <a:pt x="0" y="0"/>
                </a:lnTo>
                <a:close/>
              </a:path>
            </a:pathLst>
          </a:custGeom>
          <a:blipFill>
            <a:blip r:embed="rId3"/>
            <a:stretch>
              <a:fillRect l="-3" t="0" r="-3" b="0"/>
            </a:stretch>
          </a:blipFill>
        </p:spPr>
      </p:sp>
      <p:sp>
        <p:nvSpPr>
          <p:cNvPr name="Freeform 28" id="28" descr="preencoded.png"/>
          <p:cNvSpPr/>
          <p:nvPr/>
        </p:nvSpPr>
        <p:spPr>
          <a:xfrm flipH="false" flipV="false" rot="0">
            <a:off x="4827013" y="6266859"/>
            <a:ext cx="340223" cy="340223"/>
          </a:xfrm>
          <a:custGeom>
            <a:avLst/>
            <a:gdLst/>
            <a:ahLst/>
            <a:cxnLst/>
            <a:rect r="r" b="b" t="t" l="l"/>
            <a:pathLst>
              <a:path h="340223" w="340223">
                <a:moveTo>
                  <a:pt x="0" y="0"/>
                </a:moveTo>
                <a:lnTo>
                  <a:pt x="340223" y="0"/>
                </a:lnTo>
                <a:lnTo>
                  <a:pt x="340223" y="340224"/>
                </a:lnTo>
                <a:lnTo>
                  <a:pt x="0" y="340224"/>
                </a:lnTo>
                <a:lnTo>
                  <a:pt x="0" y="0"/>
                </a:lnTo>
                <a:close/>
              </a:path>
            </a:pathLst>
          </a:custGeom>
          <a:blipFill>
            <a:blip r:embed="rId9">
              <a:extLst>
                <a:ext uri="{96DAC541-7B7A-43D3-8B79-37D633B846F1}">
                  <asvg:svgBlip xmlns:asvg="http://schemas.microsoft.com/office/drawing/2016/SVG/main" r:embed="rId10"/>
                </a:ext>
              </a:extLst>
            </a:blip>
            <a:stretch>
              <a:fillRect l="0" t="-2777" r="0" b="-2777"/>
            </a:stretch>
          </a:blipFill>
        </p:spPr>
      </p:sp>
      <p:grpSp>
        <p:nvGrpSpPr>
          <p:cNvPr name="Group 29" id="29"/>
          <p:cNvGrpSpPr/>
          <p:nvPr/>
        </p:nvGrpSpPr>
        <p:grpSpPr>
          <a:xfrm rot="0">
            <a:off x="9285684" y="6436966"/>
            <a:ext cx="8010077" cy="2096986"/>
            <a:chOff x="0" y="0"/>
            <a:chExt cx="10680103" cy="2795981"/>
          </a:xfrm>
        </p:grpSpPr>
        <p:sp>
          <p:nvSpPr>
            <p:cNvPr name="Freeform 30" id="30"/>
            <p:cNvSpPr/>
            <p:nvPr/>
          </p:nvSpPr>
          <p:spPr>
            <a:xfrm flipH="false" flipV="false" rot="0">
              <a:off x="0" y="0"/>
              <a:ext cx="10680065" cy="2796032"/>
            </a:xfrm>
            <a:custGeom>
              <a:avLst/>
              <a:gdLst/>
              <a:ahLst/>
              <a:cxnLst/>
              <a:rect r="r" b="b" t="t" l="l"/>
              <a:pathLst>
                <a:path h="2796032" w="10680065">
                  <a:moveTo>
                    <a:pt x="0" y="243840"/>
                  </a:moveTo>
                  <a:cubicBezTo>
                    <a:pt x="0" y="109220"/>
                    <a:pt x="109220" y="0"/>
                    <a:pt x="243840" y="0"/>
                  </a:cubicBezTo>
                  <a:lnTo>
                    <a:pt x="10436225" y="0"/>
                  </a:lnTo>
                  <a:cubicBezTo>
                    <a:pt x="10570845" y="0"/>
                    <a:pt x="10680065" y="109220"/>
                    <a:pt x="10680065" y="243840"/>
                  </a:cubicBezTo>
                  <a:lnTo>
                    <a:pt x="10680065" y="2552192"/>
                  </a:lnTo>
                  <a:cubicBezTo>
                    <a:pt x="10680065" y="2686812"/>
                    <a:pt x="10570845" y="2796032"/>
                    <a:pt x="10436225" y="2796032"/>
                  </a:cubicBezTo>
                  <a:lnTo>
                    <a:pt x="243840" y="2796032"/>
                  </a:lnTo>
                  <a:cubicBezTo>
                    <a:pt x="109220" y="2796032"/>
                    <a:pt x="0" y="2686812"/>
                    <a:pt x="0" y="2552192"/>
                  </a:cubicBezTo>
                  <a:close/>
                </a:path>
              </a:pathLst>
            </a:custGeom>
            <a:solidFill>
              <a:srgbClr val="241631"/>
            </a:solidFill>
            <a:ln w="12700">
              <a:solidFill>
                <a:srgbClr val="000000"/>
              </a:solidFill>
            </a:ln>
          </p:spPr>
        </p:sp>
      </p:grpSp>
      <p:sp>
        <p:nvSpPr>
          <p:cNvPr name="Freeform 31" id="31" descr="preencoded.png"/>
          <p:cNvSpPr/>
          <p:nvPr/>
        </p:nvSpPr>
        <p:spPr>
          <a:xfrm flipH="false" flipV="false" rot="0">
            <a:off x="9285684" y="6398866"/>
            <a:ext cx="8010077" cy="152400"/>
          </a:xfrm>
          <a:custGeom>
            <a:avLst/>
            <a:gdLst/>
            <a:ahLst/>
            <a:cxnLst/>
            <a:rect r="r" b="b" t="t" l="l"/>
            <a:pathLst>
              <a:path h="152400" w="8010077">
                <a:moveTo>
                  <a:pt x="0" y="0"/>
                </a:moveTo>
                <a:lnTo>
                  <a:pt x="8010078" y="0"/>
                </a:lnTo>
                <a:lnTo>
                  <a:pt x="8010078" y="152400"/>
                </a:lnTo>
                <a:lnTo>
                  <a:pt x="0" y="152400"/>
                </a:lnTo>
                <a:lnTo>
                  <a:pt x="0" y="0"/>
                </a:lnTo>
                <a:close/>
              </a:path>
            </a:pathLst>
          </a:custGeom>
          <a:blipFill>
            <a:blip r:embed="rId3"/>
            <a:stretch>
              <a:fillRect l="-2" t="0" r="-2" b="0"/>
            </a:stretch>
          </a:blipFill>
        </p:spPr>
      </p:sp>
      <p:sp>
        <p:nvSpPr>
          <p:cNvPr name="Freeform 32" id="32" descr="preencoded.png"/>
          <p:cNvSpPr/>
          <p:nvPr/>
        </p:nvSpPr>
        <p:spPr>
          <a:xfrm flipH="false" flipV="false" rot="0">
            <a:off x="12865370" y="6011761"/>
            <a:ext cx="850554" cy="850554"/>
          </a:xfrm>
          <a:custGeom>
            <a:avLst/>
            <a:gdLst/>
            <a:ahLst/>
            <a:cxnLst/>
            <a:rect r="r" b="b" t="t" l="l"/>
            <a:pathLst>
              <a:path h="850554" w="850554">
                <a:moveTo>
                  <a:pt x="0" y="0"/>
                </a:moveTo>
                <a:lnTo>
                  <a:pt x="850554" y="0"/>
                </a:lnTo>
                <a:lnTo>
                  <a:pt x="850554" y="850554"/>
                </a:lnTo>
                <a:lnTo>
                  <a:pt x="0" y="850554"/>
                </a:lnTo>
                <a:lnTo>
                  <a:pt x="0" y="0"/>
                </a:lnTo>
                <a:close/>
              </a:path>
            </a:pathLst>
          </a:custGeom>
          <a:blipFill>
            <a:blip r:embed="rId4"/>
            <a:stretch>
              <a:fillRect l="0" t="0" r="0" b="0"/>
            </a:stretch>
          </a:blipFill>
        </p:spPr>
      </p:sp>
      <p:grpSp>
        <p:nvGrpSpPr>
          <p:cNvPr name="Group 33" id="33"/>
          <p:cNvGrpSpPr/>
          <p:nvPr/>
        </p:nvGrpSpPr>
        <p:grpSpPr>
          <a:xfrm rot="0">
            <a:off x="13059468" y="6205778"/>
            <a:ext cx="462519" cy="46251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4CAF"/>
            </a:solidFill>
          </p:spPr>
        </p:sp>
        <p:sp>
          <p:nvSpPr>
            <p:cNvPr name="TextBox 35" id="35"/>
            <p:cNvSpPr txBox="true"/>
            <p:nvPr/>
          </p:nvSpPr>
          <p:spPr>
            <a:xfrm>
              <a:off x="76200" y="-19050"/>
              <a:ext cx="660400" cy="755650"/>
            </a:xfrm>
            <a:prstGeom prst="rect">
              <a:avLst/>
            </a:prstGeom>
          </p:spPr>
          <p:txBody>
            <a:bodyPr anchor="ctr" rtlCol="false" tIns="50800" lIns="50800" bIns="50800" rIns="50800"/>
            <a:lstStyle/>
            <a:p>
              <a:pPr algn="ctr">
                <a:lnSpc>
                  <a:spcPts val="3562"/>
                </a:lnSpc>
              </a:pPr>
            </a:p>
          </p:txBody>
        </p:sp>
      </p:grpSp>
      <p:sp>
        <p:nvSpPr>
          <p:cNvPr name="Freeform 36" id="36" descr="preencoded.png"/>
          <p:cNvSpPr/>
          <p:nvPr/>
        </p:nvSpPr>
        <p:spPr>
          <a:xfrm flipH="false" flipV="false" rot="0">
            <a:off x="13120468" y="6266859"/>
            <a:ext cx="340223" cy="340223"/>
          </a:xfrm>
          <a:custGeom>
            <a:avLst/>
            <a:gdLst/>
            <a:ahLst/>
            <a:cxnLst/>
            <a:rect r="r" b="b" t="t" l="l"/>
            <a:pathLst>
              <a:path h="340223" w="340223">
                <a:moveTo>
                  <a:pt x="0" y="0"/>
                </a:moveTo>
                <a:lnTo>
                  <a:pt x="340224" y="0"/>
                </a:lnTo>
                <a:lnTo>
                  <a:pt x="340224" y="340224"/>
                </a:lnTo>
                <a:lnTo>
                  <a:pt x="0" y="340224"/>
                </a:lnTo>
                <a:lnTo>
                  <a:pt x="0" y="0"/>
                </a:lnTo>
                <a:close/>
              </a:path>
            </a:pathLst>
          </a:custGeom>
          <a:blipFill>
            <a:blip r:embed="rId11"/>
            <a:stretch>
              <a:fillRect l="0" t="0" r="0" b="0"/>
            </a:stretch>
          </a:blipFill>
        </p:spPr>
      </p:sp>
      <p:sp>
        <p:nvSpPr>
          <p:cNvPr name="TextBox 37" id="37"/>
          <p:cNvSpPr txBox="true"/>
          <p:nvPr/>
        </p:nvSpPr>
        <p:spPr>
          <a:xfrm rot="0">
            <a:off x="992238" y="1695898"/>
            <a:ext cx="8504634"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Teknologi di Balik Layar</a:t>
            </a:r>
          </a:p>
        </p:txBody>
      </p:sp>
      <p:sp>
        <p:nvSpPr>
          <p:cNvPr name="TextBox 38" id="38"/>
          <p:cNvSpPr txBox="true"/>
          <p:nvPr/>
        </p:nvSpPr>
        <p:spPr>
          <a:xfrm rot="0">
            <a:off x="1313859" y="4301881"/>
            <a:ext cx="4073576"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Data: GTFS TransJakarta</a:t>
            </a:r>
          </a:p>
        </p:txBody>
      </p:sp>
      <p:sp>
        <p:nvSpPr>
          <p:cNvPr name="TextBox 39" id="39"/>
          <p:cNvSpPr txBox="true"/>
          <p:nvPr/>
        </p:nvSpPr>
        <p:spPr>
          <a:xfrm rot="0">
            <a:off x="1313859" y="4857750"/>
            <a:ext cx="7366692"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Open Data</a:t>
            </a:r>
          </a:p>
        </p:txBody>
      </p:sp>
      <p:sp>
        <p:nvSpPr>
          <p:cNvPr name="TextBox 40" id="40"/>
          <p:cNvSpPr txBox="true"/>
          <p:nvPr/>
        </p:nvSpPr>
        <p:spPr>
          <a:xfrm rot="0">
            <a:off x="9607306" y="4301881"/>
            <a:ext cx="4604890"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Backend: Python + NetworkX</a:t>
            </a:r>
          </a:p>
        </p:txBody>
      </p:sp>
      <p:sp>
        <p:nvSpPr>
          <p:cNvPr name="TextBox 41" id="41"/>
          <p:cNvSpPr txBox="true"/>
          <p:nvPr/>
        </p:nvSpPr>
        <p:spPr>
          <a:xfrm rot="0">
            <a:off x="9607306" y="4857750"/>
            <a:ext cx="7366845"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Graph Theory</a:t>
            </a:r>
          </a:p>
        </p:txBody>
      </p:sp>
      <p:sp>
        <p:nvSpPr>
          <p:cNvPr name="TextBox 42" id="42"/>
          <p:cNvSpPr txBox="true"/>
          <p:nvPr/>
        </p:nvSpPr>
        <p:spPr>
          <a:xfrm rot="0">
            <a:off x="1313859" y="7107584"/>
            <a:ext cx="5313312"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Algoritma: Modifikasi Dijkstra</a:t>
            </a:r>
          </a:p>
        </p:txBody>
      </p:sp>
      <p:sp>
        <p:nvSpPr>
          <p:cNvPr name="TextBox 43" id="43"/>
          <p:cNvSpPr txBox="true"/>
          <p:nvPr/>
        </p:nvSpPr>
        <p:spPr>
          <a:xfrm rot="0">
            <a:off x="1313859" y="7663453"/>
            <a:ext cx="7366692"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Bobot = Biaya, bukan Jarak</a:t>
            </a:r>
          </a:p>
        </p:txBody>
      </p:sp>
      <p:sp>
        <p:nvSpPr>
          <p:cNvPr name="TextBox 44" id="44"/>
          <p:cNvSpPr txBox="true"/>
          <p:nvPr/>
        </p:nvSpPr>
        <p:spPr>
          <a:xfrm rot="0">
            <a:off x="9607306" y="7107584"/>
            <a:ext cx="5490420"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Frontend: Next.js &amp; Leaflet Map</a:t>
            </a:r>
          </a:p>
        </p:txBody>
      </p:sp>
      <p:sp>
        <p:nvSpPr>
          <p:cNvPr name="TextBox 45" id="45"/>
          <p:cNvSpPr txBox="true"/>
          <p:nvPr/>
        </p:nvSpPr>
        <p:spPr>
          <a:xfrm rot="0">
            <a:off x="9607306" y="7663453"/>
            <a:ext cx="7366845"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Peta Interaktif</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Freeform 6" id="6" descr="preencoded.png"/>
          <p:cNvSpPr/>
          <p:nvPr/>
        </p:nvSpPr>
        <p:spPr>
          <a:xfrm flipH="false" flipV="false" rot="0">
            <a:off x="0" y="0"/>
            <a:ext cx="18288000" cy="3544043"/>
          </a:xfrm>
          <a:custGeom>
            <a:avLst/>
            <a:gdLst/>
            <a:ahLst/>
            <a:cxnLst/>
            <a:rect r="r" b="b" t="t" l="l"/>
            <a:pathLst>
              <a:path h="3544043" w="18288000">
                <a:moveTo>
                  <a:pt x="0" y="0"/>
                </a:moveTo>
                <a:lnTo>
                  <a:pt x="18288000" y="0"/>
                </a:lnTo>
                <a:lnTo>
                  <a:pt x="18288000" y="3544043"/>
                </a:lnTo>
                <a:lnTo>
                  <a:pt x="0" y="3544043"/>
                </a:lnTo>
                <a:lnTo>
                  <a:pt x="0" y="0"/>
                </a:lnTo>
                <a:close/>
              </a:path>
            </a:pathLst>
          </a:custGeom>
          <a:blipFill>
            <a:blip r:embed="rId3"/>
            <a:stretch>
              <a:fillRect l="-10" t="0" r="-10" b="0"/>
            </a:stretch>
          </a:blipFill>
        </p:spPr>
      </p:sp>
      <p:sp>
        <p:nvSpPr>
          <p:cNvPr name="TextBox 7" id="7"/>
          <p:cNvSpPr txBox="true"/>
          <p:nvPr/>
        </p:nvSpPr>
        <p:spPr>
          <a:xfrm rot="0">
            <a:off x="992238" y="4450261"/>
            <a:ext cx="7088238"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Target &amp; Manfaat</a:t>
            </a:r>
          </a:p>
        </p:txBody>
      </p:sp>
      <p:sp>
        <p:nvSpPr>
          <p:cNvPr name="Freeform 8" id="8" descr="preencoded.png"/>
          <p:cNvSpPr/>
          <p:nvPr/>
        </p:nvSpPr>
        <p:spPr>
          <a:xfrm flipH="false" flipV="false" rot="0">
            <a:off x="992238" y="5818584"/>
            <a:ext cx="5434460" cy="1134066"/>
          </a:xfrm>
          <a:custGeom>
            <a:avLst/>
            <a:gdLst/>
            <a:ahLst/>
            <a:cxnLst/>
            <a:rect r="r" b="b" t="t" l="l"/>
            <a:pathLst>
              <a:path h="1134066" w="5434460">
                <a:moveTo>
                  <a:pt x="0" y="0"/>
                </a:moveTo>
                <a:lnTo>
                  <a:pt x="5434460" y="0"/>
                </a:lnTo>
                <a:lnTo>
                  <a:pt x="5434460" y="1134066"/>
                </a:lnTo>
                <a:lnTo>
                  <a:pt x="0" y="1134066"/>
                </a:lnTo>
                <a:lnTo>
                  <a:pt x="0" y="0"/>
                </a:lnTo>
                <a:close/>
              </a:path>
            </a:pathLst>
          </a:custGeom>
          <a:blipFill>
            <a:blip r:embed="rId4"/>
            <a:stretch>
              <a:fillRect l="-65" t="0" r="-66" b="0"/>
            </a:stretch>
          </a:blipFill>
        </p:spPr>
      </p:sp>
      <p:sp>
        <p:nvSpPr>
          <p:cNvPr name="TextBox 9" id="9"/>
          <p:cNvSpPr txBox="true"/>
          <p:nvPr/>
        </p:nvSpPr>
        <p:spPr>
          <a:xfrm rot="0">
            <a:off x="1275759" y="7198071"/>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Target Pengguna</a:t>
            </a:r>
          </a:p>
        </p:txBody>
      </p:sp>
      <p:sp>
        <p:nvSpPr>
          <p:cNvPr name="TextBox 10" id="10"/>
          <p:cNvSpPr txBox="true"/>
          <p:nvPr/>
        </p:nvSpPr>
        <p:spPr>
          <a:xfrm rot="0">
            <a:off x="1275759" y="7753941"/>
            <a:ext cx="4867427" cy="87153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Pelajar, Mahasiswa, Pekerja Komuter, dan Rakyat akhir bulan</a:t>
            </a:r>
          </a:p>
        </p:txBody>
      </p:sp>
      <p:sp>
        <p:nvSpPr>
          <p:cNvPr name="Freeform 11" id="11" descr="preencoded.png"/>
          <p:cNvSpPr/>
          <p:nvPr/>
        </p:nvSpPr>
        <p:spPr>
          <a:xfrm flipH="false" flipV="false" rot="0">
            <a:off x="6426698" y="5818584"/>
            <a:ext cx="5434460" cy="1134066"/>
          </a:xfrm>
          <a:custGeom>
            <a:avLst/>
            <a:gdLst/>
            <a:ahLst/>
            <a:cxnLst/>
            <a:rect r="r" b="b" t="t" l="l"/>
            <a:pathLst>
              <a:path h="1134066" w="5434460">
                <a:moveTo>
                  <a:pt x="0" y="0"/>
                </a:moveTo>
                <a:lnTo>
                  <a:pt x="5434461" y="0"/>
                </a:lnTo>
                <a:lnTo>
                  <a:pt x="5434461" y="1134066"/>
                </a:lnTo>
                <a:lnTo>
                  <a:pt x="0" y="1134066"/>
                </a:lnTo>
                <a:lnTo>
                  <a:pt x="0" y="0"/>
                </a:lnTo>
                <a:close/>
              </a:path>
            </a:pathLst>
          </a:custGeom>
          <a:blipFill>
            <a:blip r:embed="rId5"/>
            <a:stretch>
              <a:fillRect l="-65" t="0" r="-66" b="0"/>
            </a:stretch>
          </a:blipFill>
        </p:spPr>
      </p:sp>
      <p:sp>
        <p:nvSpPr>
          <p:cNvPr name="TextBox 12" id="12"/>
          <p:cNvSpPr txBox="true"/>
          <p:nvPr/>
        </p:nvSpPr>
        <p:spPr>
          <a:xfrm rot="0">
            <a:off x="6710210" y="7198071"/>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Manfaat Utama</a:t>
            </a:r>
          </a:p>
        </p:txBody>
      </p:sp>
      <p:sp>
        <p:nvSpPr>
          <p:cNvPr name="TextBox 13" id="13"/>
          <p:cNvSpPr txBox="true"/>
          <p:nvPr/>
        </p:nvSpPr>
        <p:spPr>
          <a:xfrm rot="0">
            <a:off x="6710210" y="7753941"/>
            <a:ext cx="4867427" cy="1002506"/>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Menghemat pengeluaran transportasi harian</a:t>
            </a:r>
          </a:p>
        </p:txBody>
      </p:sp>
      <p:sp>
        <p:nvSpPr>
          <p:cNvPr name="Freeform 14" id="14" descr="preencoded.png"/>
          <p:cNvSpPr/>
          <p:nvPr/>
        </p:nvSpPr>
        <p:spPr>
          <a:xfrm flipH="false" flipV="false" rot="0">
            <a:off x="11861159" y="5818584"/>
            <a:ext cx="5434460" cy="1134066"/>
          </a:xfrm>
          <a:custGeom>
            <a:avLst/>
            <a:gdLst/>
            <a:ahLst/>
            <a:cxnLst/>
            <a:rect r="r" b="b" t="t" l="l"/>
            <a:pathLst>
              <a:path h="1134066" w="5434460">
                <a:moveTo>
                  <a:pt x="0" y="0"/>
                </a:moveTo>
                <a:lnTo>
                  <a:pt x="5434460" y="0"/>
                </a:lnTo>
                <a:lnTo>
                  <a:pt x="5434460" y="1134066"/>
                </a:lnTo>
                <a:lnTo>
                  <a:pt x="0" y="1134066"/>
                </a:lnTo>
                <a:lnTo>
                  <a:pt x="0" y="0"/>
                </a:lnTo>
                <a:close/>
              </a:path>
            </a:pathLst>
          </a:custGeom>
          <a:blipFill>
            <a:blip r:embed="rId6"/>
            <a:stretch>
              <a:fillRect l="-65" t="0" r="-66" b="0"/>
            </a:stretch>
          </a:blipFill>
        </p:spPr>
      </p:sp>
      <p:sp>
        <p:nvSpPr>
          <p:cNvPr name="TextBox 15" id="15"/>
          <p:cNvSpPr txBox="true"/>
          <p:nvPr/>
        </p:nvSpPr>
        <p:spPr>
          <a:xfrm rot="0">
            <a:off x="12144670" y="7198071"/>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Status</a:t>
            </a:r>
          </a:p>
        </p:txBody>
      </p:sp>
      <p:sp>
        <p:nvSpPr>
          <p:cNvPr name="TextBox 16" id="16"/>
          <p:cNvSpPr txBox="true"/>
          <p:nvPr/>
        </p:nvSpPr>
        <p:spPr>
          <a:xfrm rot="0">
            <a:off x="12144670" y="7753941"/>
            <a:ext cx="4867427"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Siap digunakan (Deployed)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TextBox 6" id="6"/>
          <p:cNvSpPr txBox="true"/>
          <p:nvPr/>
        </p:nvSpPr>
        <p:spPr>
          <a:xfrm rot="0">
            <a:off x="992238" y="948928"/>
            <a:ext cx="7088238"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Alur Proses Sistem</a:t>
            </a:r>
          </a:p>
        </p:txBody>
      </p:sp>
      <p:sp>
        <p:nvSpPr>
          <p:cNvPr name="Freeform 7" id="7" descr="preencoded.png"/>
          <p:cNvSpPr/>
          <p:nvPr/>
        </p:nvSpPr>
        <p:spPr>
          <a:xfrm flipH="false" flipV="false" rot="0">
            <a:off x="992238" y="2459088"/>
            <a:ext cx="16303523" cy="5141862"/>
          </a:xfrm>
          <a:custGeom>
            <a:avLst/>
            <a:gdLst/>
            <a:ahLst/>
            <a:cxnLst/>
            <a:rect r="r" b="b" t="t" l="l"/>
            <a:pathLst>
              <a:path h="5141862" w="16303523">
                <a:moveTo>
                  <a:pt x="0" y="0"/>
                </a:moveTo>
                <a:lnTo>
                  <a:pt x="16303524" y="0"/>
                </a:lnTo>
                <a:lnTo>
                  <a:pt x="16303524" y="5141862"/>
                </a:lnTo>
                <a:lnTo>
                  <a:pt x="0" y="5141862"/>
                </a:lnTo>
                <a:lnTo>
                  <a:pt x="0" y="0"/>
                </a:lnTo>
                <a:close/>
              </a:path>
            </a:pathLst>
          </a:custGeom>
          <a:blipFill>
            <a:blip r:embed="rId3"/>
            <a:stretch>
              <a:fillRect l="0" t="-5" r="0" b="-5"/>
            </a:stretch>
          </a:blipFill>
        </p:spPr>
      </p:sp>
      <p:sp>
        <p:nvSpPr>
          <p:cNvPr name="TextBox 8" id="8"/>
          <p:cNvSpPr txBox="true"/>
          <p:nvPr/>
        </p:nvSpPr>
        <p:spPr>
          <a:xfrm rot="0">
            <a:off x="1924983" y="4375394"/>
            <a:ext cx="2855557" cy="467819"/>
          </a:xfrm>
          <a:prstGeom prst="rect">
            <a:avLst/>
          </a:prstGeom>
        </p:spPr>
        <p:txBody>
          <a:bodyPr anchor="t" rtlCol="false" tIns="0" lIns="0" bIns="0" rIns="0">
            <a:spAutoFit/>
          </a:bodyPr>
          <a:lstStyle/>
          <a:p>
            <a:pPr algn="ctr">
              <a:lnSpc>
                <a:spcPts val="3651"/>
              </a:lnSpc>
            </a:pPr>
            <a:r>
              <a:rPr lang="en-US" sz="2987" b="true">
                <a:solidFill>
                  <a:srgbClr val="F94CAF"/>
                </a:solidFill>
                <a:latin typeface="Arimo Bold"/>
                <a:ea typeface="Arimo Bold"/>
                <a:cs typeface="Arimo Bold"/>
                <a:sym typeface="Arimo Bold"/>
              </a:rPr>
              <a:t>Frontend</a:t>
            </a:r>
          </a:p>
        </p:txBody>
      </p:sp>
      <p:sp>
        <p:nvSpPr>
          <p:cNvPr name="TextBox 9" id="9"/>
          <p:cNvSpPr txBox="true"/>
          <p:nvPr/>
        </p:nvSpPr>
        <p:spPr>
          <a:xfrm rot="0">
            <a:off x="1924983" y="4932178"/>
            <a:ext cx="2855557" cy="1257436"/>
          </a:xfrm>
          <a:prstGeom prst="rect">
            <a:avLst/>
          </a:prstGeom>
        </p:spPr>
        <p:txBody>
          <a:bodyPr anchor="t" rtlCol="false" tIns="0" lIns="0" bIns="0" rIns="0">
            <a:spAutoFit/>
          </a:bodyPr>
          <a:lstStyle/>
          <a:p>
            <a:pPr algn="ctr">
              <a:lnSpc>
                <a:spcPts val="3358"/>
              </a:lnSpc>
            </a:pPr>
            <a:r>
              <a:rPr lang="en-US" sz="2612">
                <a:solidFill>
                  <a:srgbClr val="DAD1E6"/>
                </a:solidFill>
                <a:latin typeface="Fira Sans"/>
                <a:ea typeface="Fira Sans"/>
                <a:cs typeface="Fira Sans"/>
                <a:sym typeface="Fira Sans"/>
              </a:rPr>
              <a:t>Next.js sends origin &amp; destination</a:t>
            </a:r>
          </a:p>
        </p:txBody>
      </p:sp>
      <p:sp>
        <p:nvSpPr>
          <p:cNvPr name="TextBox 10" id="10"/>
          <p:cNvSpPr txBox="true"/>
          <p:nvPr/>
        </p:nvSpPr>
        <p:spPr>
          <a:xfrm rot="0">
            <a:off x="5828405" y="4375394"/>
            <a:ext cx="2855557" cy="467819"/>
          </a:xfrm>
          <a:prstGeom prst="rect">
            <a:avLst/>
          </a:prstGeom>
        </p:spPr>
        <p:txBody>
          <a:bodyPr anchor="t" rtlCol="false" tIns="0" lIns="0" bIns="0" rIns="0">
            <a:spAutoFit/>
          </a:bodyPr>
          <a:lstStyle/>
          <a:p>
            <a:pPr algn="ctr">
              <a:lnSpc>
                <a:spcPts val="3651"/>
              </a:lnSpc>
            </a:pPr>
            <a:r>
              <a:rPr lang="en-US" sz="2987" b="true">
                <a:solidFill>
                  <a:srgbClr val="F94CAF"/>
                </a:solidFill>
                <a:latin typeface="Arimo Bold"/>
                <a:ea typeface="Arimo Bold"/>
                <a:cs typeface="Arimo Bold"/>
                <a:sym typeface="Arimo Bold"/>
              </a:rPr>
              <a:t>Backend</a:t>
            </a:r>
          </a:p>
        </p:txBody>
      </p:sp>
      <p:sp>
        <p:nvSpPr>
          <p:cNvPr name="TextBox 11" id="11"/>
          <p:cNvSpPr txBox="true"/>
          <p:nvPr/>
        </p:nvSpPr>
        <p:spPr>
          <a:xfrm rot="0">
            <a:off x="5828405" y="4932178"/>
            <a:ext cx="2855557" cy="838336"/>
          </a:xfrm>
          <a:prstGeom prst="rect">
            <a:avLst/>
          </a:prstGeom>
        </p:spPr>
        <p:txBody>
          <a:bodyPr anchor="t" rtlCol="false" tIns="0" lIns="0" bIns="0" rIns="0">
            <a:spAutoFit/>
          </a:bodyPr>
          <a:lstStyle/>
          <a:p>
            <a:pPr algn="ctr">
              <a:lnSpc>
                <a:spcPts val="3358"/>
              </a:lnSpc>
            </a:pPr>
            <a:r>
              <a:rPr lang="en-US" sz="2612">
                <a:solidFill>
                  <a:srgbClr val="DAD1E6"/>
                </a:solidFill>
                <a:latin typeface="Fira Sans"/>
                <a:ea typeface="Fira Sans"/>
                <a:cs typeface="Fira Sans"/>
                <a:sym typeface="Fira Sans"/>
              </a:rPr>
              <a:t>FastAPI receives coordinates</a:t>
            </a:r>
          </a:p>
        </p:txBody>
      </p:sp>
      <p:sp>
        <p:nvSpPr>
          <p:cNvPr name="TextBox 12" id="12"/>
          <p:cNvSpPr txBox="true"/>
          <p:nvPr/>
        </p:nvSpPr>
        <p:spPr>
          <a:xfrm rot="0">
            <a:off x="9622098" y="4375394"/>
            <a:ext cx="2855557" cy="467819"/>
          </a:xfrm>
          <a:prstGeom prst="rect">
            <a:avLst/>
          </a:prstGeom>
        </p:spPr>
        <p:txBody>
          <a:bodyPr anchor="t" rtlCol="false" tIns="0" lIns="0" bIns="0" rIns="0">
            <a:spAutoFit/>
          </a:bodyPr>
          <a:lstStyle/>
          <a:p>
            <a:pPr algn="ctr">
              <a:lnSpc>
                <a:spcPts val="3651"/>
              </a:lnSpc>
            </a:pPr>
            <a:r>
              <a:rPr lang="en-US" sz="2987" b="true">
                <a:solidFill>
                  <a:srgbClr val="F94CAF"/>
                </a:solidFill>
                <a:latin typeface="Arimo Bold"/>
                <a:ea typeface="Arimo Bold"/>
                <a:cs typeface="Arimo Bold"/>
                <a:sym typeface="Arimo Bold"/>
              </a:rPr>
              <a:t>Routing Engine</a:t>
            </a:r>
          </a:p>
        </p:txBody>
      </p:sp>
      <p:sp>
        <p:nvSpPr>
          <p:cNvPr name="TextBox 13" id="13"/>
          <p:cNvSpPr txBox="true"/>
          <p:nvPr/>
        </p:nvSpPr>
        <p:spPr>
          <a:xfrm rot="0">
            <a:off x="9622098" y="4932178"/>
            <a:ext cx="2855557" cy="1257436"/>
          </a:xfrm>
          <a:prstGeom prst="rect">
            <a:avLst/>
          </a:prstGeom>
        </p:spPr>
        <p:txBody>
          <a:bodyPr anchor="t" rtlCol="false" tIns="0" lIns="0" bIns="0" rIns="0">
            <a:spAutoFit/>
          </a:bodyPr>
          <a:lstStyle/>
          <a:p>
            <a:pPr algn="ctr">
              <a:lnSpc>
                <a:spcPts val="3358"/>
              </a:lnSpc>
            </a:pPr>
            <a:r>
              <a:rPr lang="en-US" sz="2612">
                <a:solidFill>
                  <a:srgbClr val="DAD1E6"/>
                </a:solidFill>
                <a:latin typeface="Fira Sans"/>
                <a:ea typeface="Fira Sans"/>
                <a:cs typeface="Fira Sans"/>
                <a:sym typeface="Fira Sans"/>
              </a:rPr>
              <a:t>Modified Dijkstra on TransJakarta graph</a:t>
            </a:r>
          </a:p>
        </p:txBody>
      </p:sp>
      <p:sp>
        <p:nvSpPr>
          <p:cNvPr name="TextBox 14" id="14"/>
          <p:cNvSpPr txBox="true"/>
          <p:nvPr/>
        </p:nvSpPr>
        <p:spPr>
          <a:xfrm rot="0">
            <a:off x="13478504" y="4375394"/>
            <a:ext cx="2855557" cy="467819"/>
          </a:xfrm>
          <a:prstGeom prst="rect">
            <a:avLst/>
          </a:prstGeom>
        </p:spPr>
        <p:txBody>
          <a:bodyPr anchor="t" rtlCol="false" tIns="0" lIns="0" bIns="0" rIns="0">
            <a:spAutoFit/>
          </a:bodyPr>
          <a:lstStyle/>
          <a:p>
            <a:pPr algn="ctr">
              <a:lnSpc>
                <a:spcPts val="3651"/>
              </a:lnSpc>
            </a:pPr>
            <a:r>
              <a:rPr lang="en-US" sz="2987" b="true">
                <a:solidFill>
                  <a:srgbClr val="F94CAF"/>
                </a:solidFill>
                <a:latin typeface="Arimo Bold"/>
                <a:ea typeface="Arimo Bold"/>
                <a:cs typeface="Arimo Bold"/>
                <a:sym typeface="Arimo Bold"/>
              </a:rPr>
              <a:t>Response</a:t>
            </a:r>
          </a:p>
        </p:txBody>
      </p:sp>
      <p:sp>
        <p:nvSpPr>
          <p:cNvPr name="TextBox 15" id="15"/>
          <p:cNvSpPr txBox="true"/>
          <p:nvPr/>
        </p:nvSpPr>
        <p:spPr>
          <a:xfrm rot="0">
            <a:off x="13478504" y="4932178"/>
            <a:ext cx="2855557" cy="838336"/>
          </a:xfrm>
          <a:prstGeom prst="rect">
            <a:avLst/>
          </a:prstGeom>
        </p:spPr>
        <p:txBody>
          <a:bodyPr anchor="t" rtlCol="false" tIns="0" lIns="0" bIns="0" rIns="0">
            <a:spAutoFit/>
          </a:bodyPr>
          <a:lstStyle/>
          <a:p>
            <a:pPr algn="ctr">
              <a:lnSpc>
                <a:spcPts val="3358"/>
              </a:lnSpc>
            </a:pPr>
            <a:r>
              <a:rPr lang="en-US" sz="2612">
                <a:solidFill>
                  <a:srgbClr val="DAD1E6"/>
                </a:solidFill>
                <a:latin typeface="Fira Sans"/>
                <a:ea typeface="Fira Sans"/>
                <a:cs typeface="Fira Sans"/>
                <a:sym typeface="Fira Sans"/>
              </a:rPr>
              <a:t>JSON with steps, time, cost</a:t>
            </a:r>
          </a:p>
        </p:txBody>
      </p:sp>
      <p:sp>
        <p:nvSpPr>
          <p:cNvPr name="TextBox 16" id="16"/>
          <p:cNvSpPr txBox="true"/>
          <p:nvPr/>
        </p:nvSpPr>
        <p:spPr>
          <a:xfrm rot="0">
            <a:off x="992238" y="7824635"/>
            <a:ext cx="16303523" cy="1456134"/>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Frontend (Next.js) mengirim koordinat lat/long asal dan tujuan ke Backend (FastAPI). Backend menggunakan algoritma Dijkstra yang dimodifikasi pada graf jaringan TransJakarta untuk mencari jalur dengan akumulasi biaya terendah. Hasil dikirim kembali dalam format JSON ke Frontend untuk ditampilkan.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TextBox 6" id="6"/>
          <p:cNvSpPr txBox="true"/>
          <p:nvPr/>
        </p:nvSpPr>
        <p:spPr>
          <a:xfrm rot="0">
            <a:off x="1028700" y="277979"/>
            <a:ext cx="2768646" cy="750721"/>
          </a:xfrm>
          <a:prstGeom prst="rect">
            <a:avLst/>
          </a:prstGeom>
        </p:spPr>
        <p:txBody>
          <a:bodyPr anchor="t" rtlCol="false" tIns="0" lIns="0" bIns="0" rIns="0">
            <a:spAutoFit/>
          </a:bodyPr>
          <a:lstStyle/>
          <a:p>
            <a:pPr algn="l">
              <a:lnSpc>
                <a:spcPts val="5882"/>
              </a:lnSpc>
            </a:pPr>
            <a:r>
              <a:rPr lang="en-US" sz="4671" b="true">
                <a:solidFill>
                  <a:srgbClr val="F94CAF"/>
                </a:solidFill>
                <a:latin typeface="Arimo Bold"/>
                <a:ea typeface="Arimo Bold"/>
                <a:cs typeface="Arimo Bold"/>
                <a:sym typeface="Arimo Bold"/>
              </a:rPr>
              <a:t>Anggaran</a:t>
            </a:r>
          </a:p>
        </p:txBody>
      </p:sp>
      <p:sp>
        <p:nvSpPr>
          <p:cNvPr name="TextBox 7" id="7"/>
          <p:cNvSpPr txBox="true"/>
          <p:nvPr/>
        </p:nvSpPr>
        <p:spPr>
          <a:xfrm rot="0">
            <a:off x="244592" y="4092907"/>
            <a:ext cx="3941142" cy="548557"/>
          </a:xfrm>
          <a:prstGeom prst="rect">
            <a:avLst/>
          </a:prstGeom>
        </p:spPr>
        <p:txBody>
          <a:bodyPr anchor="t" rtlCol="false" tIns="0" lIns="0" bIns="0" rIns="0">
            <a:spAutoFit/>
          </a:bodyPr>
          <a:lstStyle/>
          <a:p>
            <a:pPr algn="l">
              <a:lnSpc>
                <a:spcPts val="4245"/>
              </a:lnSpc>
            </a:pPr>
            <a:r>
              <a:rPr lang="en-US" sz="3313" b="true">
                <a:solidFill>
                  <a:srgbClr val="F94CAF"/>
                </a:solidFill>
                <a:latin typeface="Arimo Bold"/>
                <a:ea typeface="Arimo Bold"/>
                <a:cs typeface="Arimo Bold"/>
                <a:sym typeface="Arimo Bold"/>
              </a:rPr>
              <a:t>Rincian Anggaran:</a:t>
            </a:r>
          </a:p>
        </p:txBody>
      </p:sp>
      <p:sp>
        <p:nvSpPr>
          <p:cNvPr name="TextBox 8" id="8"/>
          <p:cNvSpPr txBox="true"/>
          <p:nvPr/>
        </p:nvSpPr>
        <p:spPr>
          <a:xfrm rot="0">
            <a:off x="244592" y="4994580"/>
            <a:ext cx="8541717" cy="565259"/>
          </a:xfrm>
          <a:prstGeom prst="rect">
            <a:avLst/>
          </a:prstGeom>
        </p:spPr>
        <p:txBody>
          <a:bodyPr anchor="t" rtlCol="false" tIns="0" lIns="0" bIns="0" rIns="0">
            <a:spAutoFit/>
          </a:bodyPr>
          <a:lstStyle/>
          <a:p>
            <a:pPr algn="l" marL="437211" indent="-218606" lvl="1">
              <a:lnSpc>
                <a:spcPts val="4831"/>
              </a:lnSpc>
              <a:buFont typeface="Arial"/>
              <a:buChar char="•"/>
            </a:pPr>
            <a:r>
              <a:rPr lang="en-US" sz="2899">
                <a:solidFill>
                  <a:srgbClr val="DAD1E6"/>
                </a:solidFill>
                <a:latin typeface="Fira Sans"/>
                <a:ea typeface="Fira Sans"/>
                <a:cs typeface="Fira Sans"/>
                <a:sym typeface="Fira Sans"/>
              </a:rPr>
              <a:t>Hosting Frontend (Vercel): Rp 0 (Free Tier)</a:t>
            </a:r>
          </a:p>
        </p:txBody>
      </p:sp>
      <p:sp>
        <p:nvSpPr>
          <p:cNvPr name="TextBox 9" id="9"/>
          <p:cNvSpPr txBox="true"/>
          <p:nvPr/>
        </p:nvSpPr>
        <p:spPr>
          <a:xfrm rot="0">
            <a:off x="244592" y="5483817"/>
            <a:ext cx="8541717" cy="565259"/>
          </a:xfrm>
          <a:prstGeom prst="rect">
            <a:avLst/>
          </a:prstGeom>
        </p:spPr>
        <p:txBody>
          <a:bodyPr anchor="t" rtlCol="false" tIns="0" lIns="0" bIns="0" rIns="0">
            <a:spAutoFit/>
          </a:bodyPr>
          <a:lstStyle/>
          <a:p>
            <a:pPr algn="l" marL="437211" indent="-218606" lvl="1">
              <a:lnSpc>
                <a:spcPts val="4831"/>
              </a:lnSpc>
              <a:buFont typeface="Arial"/>
              <a:buChar char="•"/>
            </a:pPr>
            <a:r>
              <a:rPr lang="en-US" sz="2899">
                <a:solidFill>
                  <a:srgbClr val="DAD1E6"/>
                </a:solidFill>
                <a:latin typeface="Fira Sans"/>
                <a:ea typeface="Fira Sans"/>
                <a:cs typeface="Fira Sans"/>
                <a:sym typeface="Fira Sans"/>
              </a:rPr>
              <a:t>Hosting Backend (Local): Rp 0 (Biaya listrik)</a:t>
            </a:r>
          </a:p>
        </p:txBody>
      </p:sp>
      <p:sp>
        <p:nvSpPr>
          <p:cNvPr name="TextBox 10" id="10"/>
          <p:cNvSpPr txBox="true"/>
          <p:nvPr/>
        </p:nvSpPr>
        <p:spPr>
          <a:xfrm rot="0">
            <a:off x="244592" y="5973054"/>
            <a:ext cx="8541717" cy="565259"/>
          </a:xfrm>
          <a:prstGeom prst="rect">
            <a:avLst/>
          </a:prstGeom>
        </p:spPr>
        <p:txBody>
          <a:bodyPr anchor="t" rtlCol="false" tIns="0" lIns="0" bIns="0" rIns="0">
            <a:spAutoFit/>
          </a:bodyPr>
          <a:lstStyle/>
          <a:p>
            <a:pPr algn="l" marL="437211" indent="-218606" lvl="1">
              <a:lnSpc>
                <a:spcPts val="4831"/>
              </a:lnSpc>
              <a:buFont typeface="Arial"/>
              <a:buChar char="•"/>
            </a:pPr>
            <a:r>
              <a:rPr lang="en-US" sz="2899">
                <a:solidFill>
                  <a:srgbClr val="DAD1E6"/>
                </a:solidFill>
                <a:latin typeface="Fira Sans"/>
                <a:ea typeface="Fira Sans"/>
                <a:cs typeface="Fira Sans"/>
                <a:sym typeface="Fira Sans"/>
              </a:rPr>
              <a:t>Domain: Rp 0 (GitHub Education)</a:t>
            </a:r>
          </a:p>
        </p:txBody>
      </p:sp>
      <p:sp>
        <p:nvSpPr>
          <p:cNvPr name="TextBox 11" id="11"/>
          <p:cNvSpPr txBox="true"/>
          <p:nvPr/>
        </p:nvSpPr>
        <p:spPr>
          <a:xfrm rot="0">
            <a:off x="244592" y="6462291"/>
            <a:ext cx="8541717" cy="565259"/>
          </a:xfrm>
          <a:prstGeom prst="rect">
            <a:avLst/>
          </a:prstGeom>
        </p:spPr>
        <p:txBody>
          <a:bodyPr anchor="t" rtlCol="false" tIns="0" lIns="0" bIns="0" rIns="0">
            <a:spAutoFit/>
          </a:bodyPr>
          <a:lstStyle/>
          <a:p>
            <a:pPr algn="l" marL="437211" indent="-218606" lvl="1">
              <a:lnSpc>
                <a:spcPts val="4831"/>
              </a:lnSpc>
              <a:buFont typeface="Arial"/>
              <a:buChar char="•"/>
            </a:pPr>
            <a:r>
              <a:rPr lang="en-US" sz="2899">
                <a:solidFill>
                  <a:srgbClr val="DAD1E6"/>
                </a:solidFill>
                <a:latin typeface="Fira Sans"/>
                <a:ea typeface="Fira Sans"/>
                <a:cs typeface="Fira Sans"/>
                <a:sym typeface="Fira Sans"/>
              </a:rPr>
              <a:t>Koneksi Internet &amp; Listrik: ± Rp 20.000/bulan</a:t>
            </a:r>
          </a:p>
        </p:txBody>
      </p:sp>
      <p:sp>
        <p:nvSpPr>
          <p:cNvPr name="TextBox 12" id="12"/>
          <p:cNvSpPr txBox="true"/>
          <p:nvPr/>
        </p:nvSpPr>
        <p:spPr>
          <a:xfrm rot="0">
            <a:off x="9040988" y="2735098"/>
            <a:ext cx="4300876" cy="396665"/>
          </a:xfrm>
          <a:prstGeom prst="rect">
            <a:avLst/>
          </a:prstGeom>
        </p:spPr>
        <p:txBody>
          <a:bodyPr anchor="t" rtlCol="false" tIns="0" lIns="0" bIns="0" rIns="0">
            <a:spAutoFit/>
          </a:bodyPr>
          <a:lstStyle/>
          <a:p>
            <a:pPr algn="l">
              <a:lnSpc>
                <a:spcPts val="2811"/>
              </a:lnSpc>
            </a:pPr>
            <a:r>
              <a:rPr lang="en-US" sz="2194" b="true">
                <a:solidFill>
                  <a:srgbClr val="F94CAF"/>
                </a:solidFill>
                <a:latin typeface="Arimo Bold"/>
                <a:ea typeface="Arimo Bold"/>
                <a:cs typeface="Arimo Bold"/>
                <a:sym typeface="Arimo Bold"/>
              </a:rPr>
              <a:t>Timeline Pembuatan (5 Minggu):</a:t>
            </a:r>
          </a:p>
        </p:txBody>
      </p:sp>
      <p:grpSp>
        <p:nvGrpSpPr>
          <p:cNvPr name="Group 13" id="13"/>
          <p:cNvGrpSpPr/>
          <p:nvPr/>
        </p:nvGrpSpPr>
        <p:grpSpPr>
          <a:xfrm rot="0">
            <a:off x="13595290" y="3346816"/>
            <a:ext cx="20900" cy="4720679"/>
            <a:chOff x="0" y="0"/>
            <a:chExt cx="25400" cy="5737022"/>
          </a:xfrm>
        </p:grpSpPr>
        <p:sp>
          <p:nvSpPr>
            <p:cNvPr name="Freeform 14" id="14"/>
            <p:cNvSpPr/>
            <p:nvPr/>
          </p:nvSpPr>
          <p:spPr>
            <a:xfrm flipH="false" flipV="false" rot="0">
              <a:off x="0" y="0"/>
              <a:ext cx="25400" cy="5736971"/>
            </a:xfrm>
            <a:custGeom>
              <a:avLst/>
              <a:gdLst/>
              <a:ahLst/>
              <a:cxnLst/>
              <a:rect r="r" b="b" t="t" l="l"/>
              <a:pathLst>
                <a:path h="5736971" w="25400">
                  <a:moveTo>
                    <a:pt x="0" y="12700"/>
                  </a:moveTo>
                  <a:cubicBezTo>
                    <a:pt x="0" y="5715"/>
                    <a:pt x="5715" y="0"/>
                    <a:pt x="12700" y="0"/>
                  </a:cubicBezTo>
                  <a:cubicBezTo>
                    <a:pt x="19685" y="0"/>
                    <a:pt x="25400" y="5715"/>
                    <a:pt x="25400" y="12700"/>
                  </a:cubicBezTo>
                  <a:lnTo>
                    <a:pt x="25400" y="5724271"/>
                  </a:lnTo>
                  <a:cubicBezTo>
                    <a:pt x="25400" y="5731256"/>
                    <a:pt x="19685" y="5736971"/>
                    <a:pt x="12700" y="5736971"/>
                  </a:cubicBezTo>
                  <a:cubicBezTo>
                    <a:pt x="5715" y="5736971"/>
                    <a:pt x="0" y="5731256"/>
                    <a:pt x="0" y="5724271"/>
                  </a:cubicBezTo>
                  <a:close/>
                </a:path>
              </a:pathLst>
            </a:custGeom>
            <a:solidFill>
              <a:srgbClr val="5C4E69"/>
            </a:solidFill>
            <a:ln w="12700">
              <a:solidFill>
                <a:srgbClr val="000000"/>
              </a:solidFill>
            </a:ln>
          </p:spPr>
        </p:sp>
      </p:grpSp>
      <p:grpSp>
        <p:nvGrpSpPr>
          <p:cNvPr name="Group 15" id="15"/>
          <p:cNvGrpSpPr/>
          <p:nvPr/>
        </p:nvGrpSpPr>
        <p:grpSpPr>
          <a:xfrm rot="0">
            <a:off x="13244228" y="3551409"/>
            <a:ext cx="382412" cy="20900"/>
            <a:chOff x="0" y="0"/>
            <a:chExt cx="464744" cy="25400"/>
          </a:xfrm>
        </p:grpSpPr>
        <p:sp>
          <p:nvSpPr>
            <p:cNvPr name="Freeform 16" id="16"/>
            <p:cNvSpPr/>
            <p:nvPr/>
          </p:nvSpPr>
          <p:spPr>
            <a:xfrm flipH="false" flipV="false" rot="0">
              <a:off x="0" y="0"/>
              <a:ext cx="464693" cy="25400"/>
            </a:xfrm>
            <a:custGeom>
              <a:avLst/>
              <a:gdLst/>
              <a:ahLst/>
              <a:cxnLst/>
              <a:rect r="r" b="b" t="t" l="l"/>
              <a:pathLst>
                <a:path h="25400" w="464693">
                  <a:moveTo>
                    <a:pt x="0" y="12700"/>
                  </a:moveTo>
                  <a:cubicBezTo>
                    <a:pt x="0" y="5715"/>
                    <a:pt x="5715" y="0"/>
                    <a:pt x="12700" y="0"/>
                  </a:cubicBezTo>
                  <a:lnTo>
                    <a:pt x="451993" y="0"/>
                  </a:lnTo>
                  <a:cubicBezTo>
                    <a:pt x="458978" y="0"/>
                    <a:pt x="464693" y="5715"/>
                    <a:pt x="464693" y="12700"/>
                  </a:cubicBezTo>
                  <a:cubicBezTo>
                    <a:pt x="464693" y="19685"/>
                    <a:pt x="458978" y="25400"/>
                    <a:pt x="451993" y="25400"/>
                  </a:cubicBezTo>
                  <a:lnTo>
                    <a:pt x="12700" y="25400"/>
                  </a:lnTo>
                  <a:cubicBezTo>
                    <a:pt x="5715" y="25400"/>
                    <a:pt x="0" y="19685"/>
                    <a:pt x="0" y="12700"/>
                  </a:cubicBezTo>
                  <a:close/>
                </a:path>
              </a:pathLst>
            </a:custGeom>
            <a:solidFill>
              <a:srgbClr val="5C4E69"/>
            </a:solidFill>
            <a:ln w="12700">
              <a:solidFill>
                <a:srgbClr val="000000"/>
              </a:solidFill>
            </a:ln>
          </p:spPr>
        </p:sp>
      </p:grpSp>
      <p:sp>
        <p:nvSpPr>
          <p:cNvPr name="Freeform 17" id="17" descr="preencoded.png"/>
          <p:cNvSpPr/>
          <p:nvPr/>
        </p:nvSpPr>
        <p:spPr>
          <a:xfrm flipH="false" flipV="false" rot="0">
            <a:off x="13534063" y="3490182"/>
            <a:ext cx="143365" cy="143365"/>
          </a:xfrm>
          <a:custGeom>
            <a:avLst/>
            <a:gdLst/>
            <a:ahLst/>
            <a:cxnLst/>
            <a:rect r="r" b="b" t="t" l="l"/>
            <a:pathLst>
              <a:path h="143365" w="143365">
                <a:moveTo>
                  <a:pt x="0" y="0"/>
                </a:moveTo>
                <a:lnTo>
                  <a:pt x="143365" y="0"/>
                </a:lnTo>
                <a:lnTo>
                  <a:pt x="143365" y="143365"/>
                </a:lnTo>
                <a:lnTo>
                  <a:pt x="0" y="143365"/>
                </a:lnTo>
                <a:lnTo>
                  <a:pt x="0" y="0"/>
                </a:lnTo>
                <a:close/>
              </a:path>
            </a:pathLst>
          </a:custGeom>
          <a:blipFill>
            <a:blip r:embed="rId3"/>
            <a:stretch>
              <a:fillRect l="0" t="0" r="0" b="0"/>
            </a:stretch>
          </a:blipFill>
        </p:spPr>
      </p:sp>
      <p:sp>
        <p:nvSpPr>
          <p:cNvPr name="TextBox 18" id="18"/>
          <p:cNvSpPr txBox="true"/>
          <p:nvPr/>
        </p:nvSpPr>
        <p:spPr>
          <a:xfrm rot="0">
            <a:off x="10450459" y="3374354"/>
            <a:ext cx="2390467" cy="336911"/>
          </a:xfrm>
          <a:prstGeom prst="rect">
            <a:avLst/>
          </a:prstGeom>
        </p:spPr>
        <p:txBody>
          <a:bodyPr anchor="t" rtlCol="false" tIns="0" lIns="0" bIns="0" rIns="0">
            <a:spAutoFit/>
          </a:bodyPr>
          <a:lstStyle/>
          <a:p>
            <a:pPr algn="r">
              <a:lnSpc>
                <a:spcPts val="2331"/>
              </a:lnSpc>
            </a:pPr>
            <a:r>
              <a:rPr lang="en-US" sz="1851" b="true">
                <a:solidFill>
                  <a:srgbClr val="DAD1E6"/>
                </a:solidFill>
                <a:latin typeface="Arimo Bold"/>
                <a:ea typeface="Arimo Bold"/>
                <a:cs typeface="Arimo Bold"/>
                <a:sym typeface="Arimo Bold"/>
              </a:rPr>
              <a:t>Minggu 1</a:t>
            </a:r>
          </a:p>
        </p:txBody>
      </p:sp>
      <p:sp>
        <p:nvSpPr>
          <p:cNvPr name="TextBox 19" id="19"/>
          <p:cNvSpPr txBox="true"/>
          <p:nvPr/>
        </p:nvSpPr>
        <p:spPr>
          <a:xfrm rot="0">
            <a:off x="9040988" y="3835796"/>
            <a:ext cx="3799928" cy="372508"/>
          </a:xfrm>
          <a:prstGeom prst="rect">
            <a:avLst/>
          </a:prstGeom>
        </p:spPr>
        <p:txBody>
          <a:bodyPr anchor="t" rtlCol="false" tIns="0" lIns="0" bIns="0" rIns="0">
            <a:spAutoFit/>
          </a:bodyPr>
          <a:lstStyle/>
          <a:p>
            <a:pPr algn="r">
              <a:lnSpc>
                <a:spcPts val="2399"/>
              </a:lnSpc>
            </a:pPr>
            <a:r>
              <a:rPr lang="en-US" sz="1439">
                <a:solidFill>
                  <a:srgbClr val="DAD1E6"/>
                </a:solidFill>
                <a:latin typeface="Fira Sans"/>
                <a:ea typeface="Fira Sans"/>
                <a:cs typeface="Fira Sans"/>
                <a:sym typeface="Fira Sans"/>
              </a:rPr>
              <a:t>Riset &amp; Parsing Data GTFS, Analisis Data.</a:t>
            </a:r>
          </a:p>
        </p:txBody>
      </p:sp>
      <p:grpSp>
        <p:nvGrpSpPr>
          <p:cNvPr name="Group 20" id="20"/>
          <p:cNvGrpSpPr/>
          <p:nvPr/>
        </p:nvGrpSpPr>
        <p:grpSpPr>
          <a:xfrm rot="0">
            <a:off x="13584840" y="4698635"/>
            <a:ext cx="382412" cy="20900"/>
            <a:chOff x="0" y="0"/>
            <a:chExt cx="464744" cy="25400"/>
          </a:xfrm>
        </p:grpSpPr>
        <p:sp>
          <p:nvSpPr>
            <p:cNvPr name="Freeform 21" id="21"/>
            <p:cNvSpPr/>
            <p:nvPr/>
          </p:nvSpPr>
          <p:spPr>
            <a:xfrm flipH="false" flipV="false" rot="0">
              <a:off x="0" y="0"/>
              <a:ext cx="464693" cy="25400"/>
            </a:xfrm>
            <a:custGeom>
              <a:avLst/>
              <a:gdLst/>
              <a:ahLst/>
              <a:cxnLst/>
              <a:rect r="r" b="b" t="t" l="l"/>
              <a:pathLst>
                <a:path h="25400" w="464693">
                  <a:moveTo>
                    <a:pt x="0" y="12700"/>
                  </a:moveTo>
                  <a:cubicBezTo>
                    <a:pt x="0" y="5715"/>
                    <a:pt x="5715" y="0"/>
                    <a:pt x="12700" y="0"/>
                  </a:cubicBezTo>
                  <a:lnTo>
                    <a:pt x="451993" y="0"/>
                  </a:lnTo>
                  <a:cubicBezTo>
                    <a:pt x="458978" y="0"/>
                    <a:pt x="464693" y="5715"/>
                    <a:pt x="464693" y="12700"/>
                  </a:cubicBezTo>
                  <a:cubicBezTo>
                    <a:pt x="464693" y="19685"/>
                    <a:pt x="458978" y="25400"/>
                    <a:pt x="451993" y="25400"/>
                  </a:cubicBezTo>
                  <a:lnTo>
                    <a:pt x="12700" y="25400"/>
                  </a:lnTo>
                  <a:cubicBezTo>
                    <a:pt x="5715" y="25400"/>
                    <a:pt x="0" y="19685"/>
                    <a:pt x="0" y="12700"/>
                  </a:cubicBezTo>
                  <a:close/>
                </a:path>
              </a:pathLst>
            </a:custGeom>
            <a:solidFill>
              <a:srgbClr val="5C4E69"/>
            </a:solidFill>
            <a:ln w="12700">
              <a:solidFill>
                <a:srgbClr val="000000"/>
              </a:solidFill>
            </a:ln>
          </p:spPr>
        </p:sp>
      </p:grpSp>
      <p:sp>
        <p:nvSpPr>
          <p:cNvPr name="Freeform 22" id="22" descr="preencoded.png"/>
          <p:cNvSpPr/>
          <p:nvPr/>
        </p:nvSpPr>
        <p:spPr>
          <a:xfrm flipH="false" flipV="false" rot="0">
            <a:off x="13534063" y="4637407"/>
            <a:ext cx="143365" cy="143365"/>
          </a:xfrm>
          <a:custGeom>
            <a:avLst/>
            <a:gdLst/>
            <a:ahLst/>
            <a:cxnLst/>
            <a:rect r="r" b="b" t="t" l="l"/>
            <a:pathLst>
              <a:path h="143365" w="143365">
                <a:moveTo>
                  <a:pt x="0" y="0"/>
                </a:moveTo>
                <a:lnTo>
                  <a:pt x="143365" y="0"/>
                </a:lnTo>
                <a:lnTo>
                  <a:pt x="143365" y="143366"/>
                </a:lnTo>
                <a:lnTo>
                  <a:pt x="0" y="143366"/>
                </a:lnTo>
                <a:lnTo>
                  <a:pt x="0" y="0"/>
                </a:lnTo>
                <a:close/>
              </a:path>
            </a:pathLst>
          </a:custGeom>
          <a:blipFill>
            <a:blip r:embed="rId3"/>
            <a:stretch>
              <a:fillRect l="0" t="0" r="0" b="0"/>
            </a:stretch>
          </a:blipFill>
        </p:spPr>
      </p:sp>
      <p:sp>
        <p:nvSpPr>
          <p:cNvPr name="TextBox 23" id="23"/>
          <p:cNvSpPr txBox="true"/>
          <p:nvPr/>
        </p:nvSpPr>
        <p:spPr>
          <a:xfrm rot="0">
            <a:off x="14370554" y="4521590"/>
            <a:ext cx="2390467" cy="336911"/>
          </a:xfrm>
          <a:prstGeom prst="rect">
            <a:avLst/>
          </a:prstGeom>
        </p:spPr>
        <p:txBody>
          <a:bodyPr anchor="t" rtlCol="false" tIns="0" lIns="0" bIns="0" rIns="0">
            <a:spAutoFit/>
          </a:bodyPr>
          <a:lstStyle/>
          <a:p>
            <a:pPr algn="l">
              <a:lnSpc>
                <a:spcPts val="2331"/>
              </a:lnSpc>
            </a:pPr>
            <a:r>
              <a:rPr lang="en-US" sz="1851" b="true">
                <a:solidFill>
                  <a:srgbClr val="DAD1E6"/>
                </a:solidFill>
                <a:latin typeface="Arimo Bold"/>
                <a:ea typeface="Arimo Bold"/>
                <a:cs typeface="Arimo Bold"/>
                <a:sym typeface="Arimo Bold"/>
              </a:rPr>
              <a:t>Minggu 2-3</a:t>
            </a:r>
          </a:p>
        </p:txBody>
      </p:sp>
      <p:sp>
        <p:nvSpPr>
          <p:cNvPr name="TextBox 24" id="24"/>
          <p:cNvSpPr txBox="true"/>
          <p:nvPr/>
        </p:nvSpPr>
        <p:spPr>
          <a:xfrm rot="0">
            <a:off x="14370554" y="4983021"/>
            <a:ext cx="3800096" cy="678332"/>
          </a:xfrm>
          <a:prstGeom prst="rect">
            <a:avLst/>
          </a:prstGeom>
        </p:spPr>
        <p:txBody>
          <a:bodyPr anchor="t" rtlCol="false" tIns="0" lIns="0" bIns="0" rIns="0">
            <a:spAutoFit/>
          </a:bodyPr>
          <a:lstStyle/>
          <a:p>
            <a:pPr algn="l">
              <a:lnSpc>
                <a:spcPts val="2399"/>
              </a:lnSpc>
            </a:pPr>
            <a:r>
              <a:rPr lang="en-US" sz="1439">
                <a:solidFill>
                  <a:srgbClr val="DAD1E6"/>
                </a:solidFill>
                <a:latin typeface="Fira Sans"/>
                <a:ea typeface="Fira Sans"/>
                <a:cs typeface="Fira Sans"/>
                <a:sym typeface="Fira Sans"/>
              </a:rPr>
              <a:t>Coding Backend (Algoritma Routing), Prototyping Backend &amp; Keamanan.</a:t>
            </a:r>
          </a:p>
        </p:txBody>
      </p:sp>
      <p:grpSp>
        <p:nvGrpSpPr>
          <p:cNvPr name="Group 25" id="25"/>
          <p:cNvGrpSpPr/>
          <p:nvPr/>
        </p:nvGrpSpPr>
        <p:grpSpPr>
          <a:xfrm rot="0">
            <a:off x="13244228" y="5687478"/>
            <a:ext cx="382412" cy="20900"/>
            <a:chOff x="0" y="0"/>
            <a:chExt cx="464744" cy="25400"/>
          </a:xfrm>
        </p:grpSpPr>
        <p:sp>
          <p:nvSpPr>
            <p:cNvPr name="Freeform 26" id="26"/>
            <p:cNvSpPr/>
            <p:nvPr/>
          </p:nvSpPr>
          <p:spPr>
            <a:xfrm flipH="false" flipV="false" rot="0">
              <a:off x="0" y="0"/>
              <a:ext cx="464693" cy="25400"/>
            </a:xfrm>
            <a:custGeom>
              <a:avLst/>
              <a:gdLst/>
              <a:ahLst/>
              <a:cxnLst/>
              <a:rect r="r" b="b" t="t" l="l"/>
              <a:pathLst>
                <a:path h="25400" w="464693">
                  <a:moveTo>
                    <a:pt x="0" y="12700"/>
                  </a:moveTo>
                  <a:cubicBezTo>
                    <a:pt x="0" y="5715"/>
                    <a:pt x="5715" y="0"/>
                    <a:pt x="12700" y="0"/>
                  </a:cubicBezTo>
                  <a:lnTo>
                    <a:pt x="451993" y="0"/>
                  </a:lnTo>
                  <a:cubicBezTo>
                    <a:pt x="458978" y="0"/>
                    <a:pt x="464693" y="5715"/>
                    <a:pt x="464693" y="12700"/>
                  </a:cubicBezTo>
                  <a:cubicBezTo>
                    <a:pt x="464693" y="19685"/>
                    <a:pt x="458978" y="25400"/>
                    <a:pt x="451993" y="25400"/>
                  </a:cubicBezTo>
                  <a:lnTo>
                    <a:pt x="12700" y="25400"/>
                  </a:lnTo>
                  <a:cubicBezTo>
                    <a:pt x="5715" y="25400"/>
                    <a:pt x="0" y="19685"/>
                    <a:pt x="0" y="12700"/>
                  </a:cubicBezTo>
                  <a:close/>
                </a:path>
              </a:pathLst>
            </a:custGeom>
            <a:solidFill>
              <a:srgbClr val="5C4E69"/>
            </a:solidFill>
            <a:ln w="12700">
              <a:solidFill>
                <a:srgbClr val="000000"/>
              </a:solidFill>
            </a:ln>
          </p:spPr>
        </p:sp>
      </p:grpSp>
      <p:sp>
        <p:nvSpPr>
          <p:cNvPr name="Freeform 27" id="27" descr="preencoded.png"/>
          <p:cNvSpPr/>
          <p:nvPr/>
        </p:nvSpPr>
        <p:spPr>
          <a:xfrm flipH="false" flipV="false" rot="0">
            <a:off x="13534063" y="5626251"/>
            <a:ext cx="143365" cy="143365"/>
          </a:xfrm>
          <a:custGeom>
            <a:avLst/>
            <a:gdLst/>
            <a:ahLst/>
            <a:cxnLst/>
            <a:rect r="r" b="b" t="t" l="l"/>
            <a:pathLst>
              <a:path h="143365" w="143365">
                <a:moveTo>
                  <a:pt x="0" y="0"/>
                </a:moveTo>
                <a:lnTo>
                  <a:pt x="143365" y="0"/>
                </a:lnTo>
                <a:lnTo>
                  <a:pt x="143365" y="143365"/>
                </a:lnTo>
                <a:lnTo>
                  <a:pt x="0" y="143365"/>
                </a:lnTo>
                <a:lnTo>
                  <a:pt x="0" y="0"/>
                </a:lnTo>
                <a:close/>
              </a:path>
            </a:pathLst>
          </a:custGeom>
          <a:blipFill>
            <a:blip r:embed="rId3"/>
            <a:stretch>
              <a:fillRect l="0" t="0" r="0" b="0"/>
            </a:stretch>
          </a:blipFill>
        </p:spPr>
      </p:sp>
      <p:sp>
        <p:nvSpPr>
          <p:cNvPr name="TextBox 28" id="28"/>
          <p:cNvSpPr txBox="true"/>
          <p:nvPr/>
        </p:nvSpPr>
        <p:spPr>
          <a:xfrm rot="0">
            <a:off x="10450459" y="5510423"/>
            <a:ext cx="2390467" cy="336911"/>
          </a:xfrm>
          <a:prstGeom prst="rect">
            <a:avLst/>
          </a:prstGeom>
        </p:spPr>
        <p:txBody>
          <a:bodyPr anchor="t" rtlCol="false" tIns="0" lIns="0" bIns="0" rIns="0">
            <a:spAutoFit/>
          </a:bodyPr>
          <a:lstStyle/>
          <a:p>
            <a:pPr algn="r">
              <a:lnSpc>
                <a:spcPts val="2331"/>
              </a:lnSpc>
            </a:pPr>
            <a:r>
              <a:rPr lang="en-US" sz="1851" b="true">
                <a:solidFill>
                  <a:srgbClr val="DAD1E6"/>
                </a:solidFill>
                <a:latin typeface="Arimo Bold"/>
                <a:ea typeface="Arimo Bold"/>
                <a:cs typeface="Arimo Bold"/>
                <a:sym typeface="Arimo Bold"/>
              </a:rPr>
              <a:t>Minggu 4</a:t>
            </a:r>
          </a:p>
        </p:txBody>
      </p:sp>
      <p:sp>
        <p:nvSpPr>
          <p:cNvPr name="TextBox 29" id="29"/>
          <p:cNvSpPr txBox="true"/>
          <p:nvPr/>
        </p:nvSpPr>
        <p:spPr>
          <a:xfrm rot="0">
            <a:off x="9040988" y="5971865"/>
            <a:ext cx="3799928" cy="678332"/>
          </a:xfrm>
          <a:prstGeom prst="rect">
            <a:avLst/>
          </a:prstGeom>
        </p:spPr>
        <p:txBody>
          <a:bodyPr anchor="t" rtlCol="false" tIns="0" lIns="0" bIns="0" rIns="0">
            <a:spAutoFit/>
          </a:bodyPr>
          <a:lstStyle/>
          <a:p>
            <a:pPr algn="r">
              <a:lnSpc>
                <a:spcPts val="2399"/>
              </a:lnSpc>
            </a:pPr>
            <a:r>
              <a:rPr lang="en-US" sz="1439">
                <a:solidFill>
                  <a:srgbClr val="DAD1E6"/>
                </a:solidFill>
                <a:latin typeface="Fira Sans"/>
                <a:ea typeface="Fira Sans"/>
                <a:cs typeface="Fira Sans"/>
                <a:sym typeface="Fira Sans"/>
              </a:rPr>
              <a:t>Coding Frontend (UI/UX Peta), Desain Frontend.</a:t>
            </a:r>
          </a:p>
        </p:txBody>
      </p:sp>
      <p:grpSp>
        <p:nvGrpSpPr>
          <p:cNvPr name="Group 30" id="30"/>
          <p:cNvGrpSpPr/>
          <p:nvPr/>
        </p:nvGrpSpPr>
        <p:grpSpPr>
          <a:xfrm rot="0">
            <a:off x="13584840" y="6676489"/>
            <a:ext cx="382412" cy="20900"/>
            <a:chOff x="0" y="0"/>
            <a:chExt cx="464744" cy="25400"/>
          </a:xfrm>
        </p:grpSpPr>
        <p:sp>
          <p:nvSpPr>
            <p:cNvPr name="Freeform 31" id="31"/>
            <p:cNvSpPr/>
            <p:nvPr/>
          </p:nvSpPr>
          <p:spPr>
            <a:xfrm flipH="false" flipV="false" rot="0">
              <a:off x="0" y="0"/>
              <a:ext cx="464693" cy="25400"/>
            </a:xfrm>
            <a:custGeom>
              <a:avLst/>
              <a:gdLst/>
              <a:ahLst/>
              <a:cxnLst/>
              <a:rect r="r" b="b" t="t" l="l"/>
              <a:pathLst>
                <a:path h="25400" w="464693">
                  <a:moveTo>
                    <a:pt x="0" y="12700"/>
                  </a:moveTo>
                  <a:cubicBezTo>
                    <a:pt x="0" y="5715"/>
                    <a:pt x="5715" y="0"/>
                    <a:pt x="12700" y="0"/>
                  </a:cubicBezTo>
                  <a:lnTo>
                    <a:pt x="451993" y="0"/>
                  </a:lnTo>
                  <a:cubicBezTo>
                    <a:pt x="458978" y="0"/>
                    <a:pt x="464693" y="5715"/>
                    <a:pt x="464693" y="12700"/>
                  </a:cubicBezTo>
                  <a:cubicBezTo>
                    <a:pt x="464693" y="19685"/>
                    <a:pt x="458978" y="25400"/>
                    <a:pt x="451993" y="25400"/>
                  </a:cubicBezTo>
                  <a:lnTo>
                    <a:pt x="12700" y="25400"/>
                  </a:lnTo>
                  <a:cubicBezTo>
                    <a:pt x="5715" y="25400"/>
                    <a:pt x="0" y="19685"/>
                    <a:pt x="0" y="12700"/>
                  </a:cubicBezTo>
                  <a:close/>
                </a:path>
              </a:pathLst>
            </a:custGeom>
            <a:solidFill>
              <a:srgbClr val="5C4E69"/>
            </a:solidFill>
            <a:ln w="12700">
              <a:solidFill>
                <a:srgbClr val="000000"/>
              </a:solidFill>
            </a:ln>
          </p:spPr>
        </p:sp>
      </p:grpSp>
      <p:sp>
        <p:nvSpPr>
          <p:cNvPr name="Freeform 32" id="32" descr="preencoded.png"/>
          <p:cNvSpPr/>
          <p:nvPr/>
        </p:nvSpPr>
        <p:spPr>
          <a:xfrm flipH="false" flipV="false" rot="0">
            <a:off x="13534063" y="6615262"/>
            <a:ext cx="143365" cy="143365"/>
          </a:xfrm>
          <a:custGeom>
            <a:avLst/>
            <a:gdLst/>
            <a:ahLst/>
            <a:cxnLst/>
            <a:rect r="r" b="b" t="t" l="l"/>
            <a:pathLst>
              <a:path h="143365" w="143365">
                <a:moveTo>
                  <a:pt x="0" y="0"/>
                </a:moveTo>
                <a:lnTo>
                  <a:pt x="143365" y="0"/>
                </a:lnTo>
                <a:lnTo>
                  <a:pt x="143365" y="143365"/>
                </a:lnTo>
                <a:lnTo>
                  <a:pt x="0" y="143365"/>
                </a:lnTo>
                <a:lnTo>
                  <a:pt x="0" y="0"/>
                </a:lnTo>
                <a:close/>
              </a:path>
            </a:pathLst>
          </a:custGeom>
          <a:blipFill>
            <a:blip r:embed="rId3"/>
            <a:stretch>
              <a:fillRect l="0" t="0" r="0" b="0"/>
            </a:stretch>
          </a:blipFill>
        </p:spPr>
      </p:sp>
      <p:sp>
        <p:nvSpPr>
          <p:cNvPr name="TextBox 33" id="33"/>
          <p:cNvSpPr txBox="true"/>
          <p:nvPr/>
        </p:nvSpPr>
        <p:spPr>
          <a:xfrm rot="0">
            <a:off x="14370554" y="6499434"/>
            <a:ext cx="2390467" cy="336911"/>
          </a:xfrm>
          <a:prstGeom prst="rect">
            <a:avLst/>
          </a:prstGeom>
        </p:spPr>
        <p:txBody>
          <a:bodyPr anchor="t" rtlCol="false" tIns="0" lIns="0" bIns="0" rIns="0">
            <a:spAutoFit/>
          </a:bodyPr>
          <a:lstStyle/>
          <a:p>
            <a:pPr algn="l">
              <a:lnSpc>
                <a:spcPts val="2331"/>
              </a:lnSpc>
            </a:pPr>
            <a:r>
              <a:rPr lang="en-US" sz="1851" b="true">
                <a:solidFill>
                  <a:srgbClr val="DAD1E6"/>
                </a:solidFill>
                <a:latin typeface="Arimo Bold"/>
                <a:ea typeface="Arimo Bold"/>
                <a:cs typeface="Arimo Bold"/>
                <a:sym typeface="Arimo Bold"/>
              </a:rPr>
              <a:t>Minggu 5</a:t>
            </a:r>
          </a:p>
        </p:txBody>
      </p:sp>
      <p:sp>
        <p:nvSpPr>
          <p:cNvPr name="TextBox 34" id="34"/>
          <p:cNvSpPr txBox="true"/>
          <p:nvPr/>
        </p:nvSpPr>
        <p:spPr>
          <a:xfrm rot="0">
            <a:off x="14370554" y="6960876"/>
            <a:ext cx="3800096" cy="984165"/>
          </a:xfrm>
          <a:prstGeom prst="rect">
            <a:avLst/>
          </a:prstGeom>
        </p:spPr>
        <p:txBody>
          <a:bodyPr anchor="t" rtlCol="false" tIns="0" lIns="0" bIns="0" rIns="0">
            <a:spAutoFit/>
          </a:bodyPr>
          <a:lstStyle/>
          <a:p>
            <a:pPr algn="l">
              <a:lnSpc>
                <a:spcPts val="2399"/>
              </a:lnSpc>
            </a:pPr>
            <a:r>
              <a:rPr lang="en-US" sz="1439">
                <a:solidFill>
                  <a:srgbClr val="DAD1E6"/>
                </a:solidFill>
                <a:latin typeface="Fira Sans"/>
                <a:ea typeface="Fira Sans"/>
                <a:cs typeface="Fira Sans"/>
                <a:sym typeface="Fira Sans"/>
              </a:rPr>
              <a:t>Integrasi &amp; Uji Coba Rute, Deployment (Frontend ke Vercel, Backend ke Homelab Server).</a:t>
            </a:r>
          </a:p>
        </p:txBody>
      </p:sp>
      <p:sp>
        <p:nvSpPr>
          <p:cNvPr name="Freeform 35" id="35" descr="preencoded.png"/>
          <p:cNvSpPr/>
          <p:nvPr/>
        </p:nvSpPr>
        <p:spPr>
          <a:xfrm flipH="false" flipV="false" rot="0">
            <a:off x="8786308" y="1233134"/>
            <a:ext cx="121383" cy="9053866"/>
          </a:xfrm>
          <a:custGeom>
            <a:avLst/>
            <a:gdLst/>
            <a:ahLst/>
            <a:cxnLst/>
            <a:rect r="r" b="b" t="t" l="l"/>
            <a:pathLst>
              <a:path h="9053866" w="121383">
                <a:moveTo>
                  <a:pt x="0" y="0"/>
                </a:moveTo>
                <a:lnTo>
                  <a:pt x="121383" y="0"/>
                </a:lnTo>
                <a:lnTo>
                  <a:pt x="121383" y="9053866"/>
                </a:lnTo>
                <a:lnTo>
                  <a:pt x="0" y="9053866"/>
                </a:lnTo>
                <a:lnTo>
                  <a:pt x="0" y="0"/>
                </a:lnTo>
                <a:close/>
              </a:path>
            </a:pathLst>
          </a:custGeom>
          <a:blipFill>
            <a:blip r:embed="rId4"/>
            <a:stretch>
              <a:fillRect l="-481590" t="-585833" r="-4131468" b="-585833"/>
            </a:stretch>
          </a:blipFill>
        </p:spPr>
      </p:sp>
      <p:sp>
        <p:nvSpPr>
          <p:cNvPr name="TextBox 36" id="36"/>
          <p:cNvSpPr txBox="true"/>
          <p:nvPr/>
        </p:nvSpPr>
        <p:spPr>
          <a:xfrm rot="0">
            <a:off x="8467781" y="277979"/>
            <a:ext cx="758437" cy="750721"/>
          </a:xfrm>
          <a:prstGeom prst="rect">
            <a:avLst/>
          </a:prstGeom>
        </p:spPr>
        <p:txBody>
          <a:bodyPr anchor="t" rtlCol="false" tIns="0" lIns="0" bIns="0" rIns="0">
            <a:spAutoFit/>
          </a:bodyPr>
          <a:lstStyle/>
          <a:p>
            <a:pPr algn="l">
              <a:lnSpc>
                <a:spcPts val="5882"/>
              </a:lnSpc>
            </a:pPr>
            <a:r>
              <a:rPr lang="en-US" sz="4671" b="true">
                <a:solidFill>
                  <a:srgbClr val="F94CAF"/>
                </a:solidFill>
                <a:latin typeface="Arimo Bold"/>
                <a:ea typeface="Arimo Bold"/>
                <a:cs typeface="Arimo Bold"/>
                <a:sym typeface="Arimo Bold"/>
              </a:rPr>
              <a:t> &amp; </a:t>
            </a:r>
          </a:p>
        </p:txBody>
      </p:sp>
      <p:sp>
        <p:nvSpPr>
          <p:cNvPr name="TextBox 37" id="37"/>
          <p:cNvSpPr txBox="true"/>
          <p:nvPr/>
        </p:nvSpPr>
        <p:spPr>
          <a:xfrm rot="0">
            <a:off x="14852570" y="277979"/>
            <a:ext cx="2406730" cy="750721"/>
          </a:xfrm>
          <a:prstGeom prst="rect">
            <a:avLst/>
          </a:prstGeom>
        </p:spPr>
        <p:txBody>
          <a:bodyPr anchor="t" rtlCol="false" tIns="0" lIns="0" bIns="0" rIns="0">
            <a:spAutoFit/>
          </a:bodyPr>
          <a:lstStyle/>
          <a:p>
            <a:pPr algn="l">
              <a:lnSpc>
                <a:spcPts val="5882"/>
              </a:lnSpc>
            </a:pPr>
            <a:r>
              <a:rPr lang="en-US" sz="4671" b="true">
                <a:solidFill>
                  <a:srgbClr val="F94CAF"/>
                </a:solidFill>
                <a:latin typeface="Arimo Bold"/>
                <a:ea typeface="Arimo Bold"/>
                <a:cs typeface="Arimo Bold"/>
                <a:sym typeface="Arimo Bold"/>
              </a:rPr>
              <a:t>Timeline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850238" y="2201618"/>
            <a:ext cx="7088238" cy="943127"/>
          </a:xfrm>
          <a:prstGeom prst="rect">
            <a:avLst/>
          </a:prstGeom>
        </p:spPr>
        <p:txBody>
          <a:bodyPr anchor="t" rtlCol="false" tIns="0" lIns="0" bIns="0" rIns="0">
            <a:spAutoFit/>
          </a:bodyPr>
          <a:lstStyle/>
          <a:p>
            <a:pPr algn="l">
              <a:lnSpc>
                <a:spcPts val="6937"/>
              </a:lnSpc>
            </a:pPr>
            <a:r>
              <a:rPr lang="en-US" sz="5562" b="true">
                <a:solidFill>
                  <a:srgbClr val="F94CAF"/>
                </a:solidFill>
                <a:latin typeface="Arimo Bold"/>
                <a:ea typeface="Arimo Bold"/>
                <a:cs typeface="Arimo Bold"/>
                <a:sym typeface="Arimo Bold"/>
              </a:rPr>
              <a:t>Kesimpulan Trans-It</a:t>
            </a:r>
          </a:p>
        </p:txBody>
      </p:sp>
      <p:grpSp>
        <p:nvGrpSpPr>
          <p:cNvPr name="Group 8" id="8"/>
          <p:cNvGrpSpPr/>
          <p:nvPr/>
        </p:nvGrpSpPr>
        <p:grpSpPr>
          <a:xfrm rot="0">
            <a:off x="7850238" y="3569941"/>
            <a:ext cx="4580934" cy="2540946"/>
            <a:chOff x="0" y="0"/>
            <a:chExt cx="6107913" cy="3387928"/>
          </a:xfrm>
        </p:grpSpPr>
        <p:sp>
          <p:nvSpPr>
            <p:cNvPr name="Freeform 9" id="9"/>
            <p:cNvSpPr/>
            <p:nvPr/>
          </p:nvSpPr>
          <p:spPr>
            <a:xfrm flipH="false" flipV="false" rot="0">
              <a:off x="0" y="0"/>
              <a:ext cx="6107938" cy="3387852"/>
            </a:xfrm>
            <a:custGeom>
              <a:avLst/>
              <a:gdLst/>
              <a:ahLst/>
              <a:cxnLst/>
              <a:rect r="r" b="b" t="t" l="l"/>
              <a:pathLst>
                <a:path h="3387852" w="6107938">
                  <a:moveTo>
                    <a:pt x="0" y="907288"/>
                  </a:moveTo>
                  <a:cubicBezTo>
                    <a:pt x="0" y="406273"/>
                    <a:pt x="406273" y="0"/>
                    <a:pt x="907288" y="0"/>
                  </a:cubicBezTo>
                  <a:lnTo>
                    <a:pt x="5200650" y="0"/>
                  </a:lnTo>
                  <a:cubicBezTo>
                    <a:pt x="5701792" y="0"/>
                    <a:pt x="6107938" y="406273"/>
                    <a:pt x="6107938" y="907288"/>
                  </a:cubicBezTo>
                  <a:lnTo>
                    <a:pt x="6107938" y="2480564"/>
                  </a:lnTo>
                  <a:cubicBezTo>
                    <a:pt x="6107938" y="2981706"/>
                    <a:pt x="5701665" y="3387852"/>
                    <a:pt x="5200650" y="3387852"/>
                  </a:cubicBezTo>
                  <a:lnTo>
                    <a:pt x="907288" y="3387852"/>
                  </a:lnTo>
                  <a:cubicBezTo>
                    <a:pt x="406273" y="3387979"/>
                    <a:pt x="0" y="2981706"/>
                    <a:pt x="0" y="2480564"/>
                  </a:cubicBezTo>
                  <a:close/>
                </a:path>
              </a:pathLst>
            </a:custGeom>
            <a:solidFill>
              <a:srgbClr val="433550"/>
            </a:solidFill>
            <a:ln w="12700">
              <a:solidFill>
                <a:srgbClr val="000000"/>
              </a:solidFill>
            </a:ln>
          </p:spPr>
        </p:sp>
      </p:grpSp>
      <p:sp>
        <p:nvSpPr>
          <p:cNvPr name="TextBox 10" id="10"/>
          <p:cNvSpPr txBox="true"/>
          <p:nvPr/>
        </p:nvSpPr>
        <p:spPr>
          <a:xfrm rot="0">
            <a:off x="8133759" y="3815353"/>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Solusi Alternatif</a:t>
            </a:r>
          </a:p>
        </p:txBody>
      </p:sp>
      <p:sp>
        <p:nvSpPr>
          <p:cNvPr name="TextBox 11" id="11"/>
          <p:cNvSpPr txBox="true"/>
          <p:nvPr/>
        </p:nvSpPr>
        <p:spPr>
          <a:xfrm rot="0">
            <a:off x="8133759" y="4371232"/>
            <a:ext cx="4013892" cy="1456134"/>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Navigasi transportasi publik di Jakarta yang berfokus pada efisiensi biaya.</a:t>
            </a:r>
          </a:p>
        </p:txBody>
      </p:sp>
      <p:grpSp>
        <p:nvGrpSpPr>
          <p:cNvPr name="Group 12" id="12"/>
          <p:cNvGrpSpPr/>
          <p:nvPr/>
        </p:nvGrpSpPr>
        <p:grpSpPr>
          <a:xfrm rot="0">
            <a:off x="12714684" y="3569941"/>
            <a:ext cx="4581077" cy="2540946"/>
            <a:chOff x="0" y="0"/>
            <a:chExt cx="6108103" cy="3387928"/>
          </a:xfrm>
        </p:grpSpPr>
        <p:sp>
          <p:nvSpPr>
            <p:cNvPr name="Freeform 13" id="13"/>
            <p:cNvSpPr/>
            <p:nvPr/>
          </p:nvSpPr>
          <p:spPr>
            <a:xfrm flipH="false" flipV="false" rot="0">
              <a:off x="0" y="0"/>
              <a:ext cx="6108065" cy="3387852"/>
            </a:xfrm>
            <a:custGeom>
              <a:avLst/>
              <a:gdLst/>
              <a:ahLst/>
              <a:cxnLst/>
              <a:rect r="r" b="b" t="t" l="l"/>
              <a:pathLst>
                <a:path h="3387852" w="6108065">
                  <a:moveTo>
                    <a:pt x="0" y="907288"/>
                  </a:moveTo>
                  <a:cubicBezTo>
                    <a:pt x="0" y="406273"/>
                    <a:pt x="406273" y="0"/>
                    <a:pt x="907288" y="0"/>
                  </a:cubicBezTo>
                  <a:lnTo>
                    <a:pt x="5200777" y="0"/>
                  </a:lnTo>
                  <a:cubicBezTo>
                    <a:pt x="5701919" y="0"/>
                    <a:pt x="6108065" y="406273"/>
                    <a:pt x="6108065" y="907288"/>
                  </a:cubicBezTo>
                  <a:lnTo>
                    <a:pt x="6108065" y="2480564"/>
                  </a:lnTo>
                  <a:cubicBezTo>
                    <a:pt x="6108065" y="2981706"/>
                    <a:pt x="5701792" y="3387852"/>
                    <a:pt x="5200777" y="3387852"/>
                  </a:cubicBezTo>
                  <a:lnTo>
                    <a:pt x="907288" y="3387852"/>
                  </a:lnTo>
                  <a:cubicBezTo>
                    <a:pt x="406273" y="3387979"/>
                    <a:pt x="0" y="2981706"/>
                    <a:pt x="0" y="2480564"/>
                  </a:cubicBezTo>
                  <a:close/>
                </a:path>
              </a:pathLst>
            </a:custGeom>
            <a:solidFill>
              <a:srgbClr val="433550"/>
            </a:solidFill>
            <a:ln w="12700">
              <a:solidFill>
                <a:srgbClr val="000000"/>
              </a:solidFill>
            </a:ln>
          </p:spPr>
        </p:sp>
      </p:grpSp>
      <p:sp>
        <p:nvSpPr>
          <p:cNvPr name="TextBox 14" id="14"/>
          <p:cNvSpPr txBox="true"/>
          <p:nvPr/>
        </p:nvSpPr>
        <p:spPr>
          <a:xfrm rot="0">
            <a:off x="12998206" y="3815353"/>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Manfaatkan Teknologi</a:t>
            </a:r>
          </a:p>
        </p:txBody>
      </p:sp>
      <p:sp>
        <p:nvSpPr>
          <p:cNvPr name="TextBox 15" id="15"/>
          <p:cNvSpPr txBox="true"/>
          <p:nvPr/>
        </p:nvSpPr>
        <p:spPr>
          <a:xfrm rot="0">
            <a:off x="12998206" y="4371232"/>
            <a:ext cx="4014045" cy="1456134"/>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Menggunakan algoritma graf dan data terbuka untuk mengatasi kompleksitas tarif.</a:t>
            </a:r>
          </a:p>
        </p:txBody>
      </p:sp>
      <p:grpSp>
        <p:nvGrpSpPr>
          <p:cNvPr name="Group 16" id="16"/>
          <p:cNvGrpSpPr/>
          <p:nvPr/>
        </p:nvGrpSpPr>
        <p:grpSpPr>
          <a:xfrm rot="0">
            <a:off x="7850238" y="6394399"/>
            <a:ext cx="9445523" cy="1633690"/>
            <a:chOff x="0" y="0"/>
            <a:chExt cx="12594031" cy="2178253"/>
          </a:xfrm>
        </p:grpSpPr>
        <p:sp>
          <p:nvSpPr>
            <p:cNvPr name="Freeform 17" id="17"/>
            <p:cNvSpPr/>
            <p:nvPr/>
          </p:nvSpPr>
          <p:spPr>
            <a:xfrm flipH="false" flipV="false" rot="0">
              <a:off x="0" y="0"/>
              <a:ext cx="12593955" cy="2178177"/>
            </a:xfrm>
            <a:custGeom>
              <a:avLst/>
              <a:gdLst/>
              <a:ahLst/>
              <a:cxnLst/>
              <a:rect r="r" b="b" t="t" l="l"/>
              <a:pathLst>
                <a:path h="2178177" w="12593955">
                  <a:moveTo>
                    <a:pt x="0" y="907288"/>
                  </a:moveTo>
                  <a:cubicBezTo>
                    <a:pt x="0" y="406273"/>
                    <a:pt x="406273" y="0"/>
                    <a:pt x="907288" y="0"/>
                  </a:cubicBezTo>
                  <a:lnTo>
                    <a:pt x="11686667" y="0"/>
                  </a:lnTo>
                  <a:cubicBezTo>
                    <a:pt x="12187810" y="0"/>
                    <a:pt x="12593955" y="406273"/>
                    <a:pt x="12593955" y="907288"/>
                  </a:cubicBezTo>
                  <a:lnTo>
                    <a:pt x="12593955" y="1270889"/>
                  </a:lnTo>
                  <a:cubicBezTo>
                    <a:pt x="12593955" y="1772031"/>
                    <a:pt x="12187682" y="2178177"/>
                    <a:pt x="11686667" y="2178177"/>
                  </a:cubicBezTo>
                  <a:lnTo>
                    <a:pt x="907288" y="2178177"/>
                  </a:lnTo>
                  <a:cubicBezTo>
                    <a:pt x="406273" y="2178304"/>
                    <a:pt x="0" y="1772031"/>
                    <a:pt x="0" y="1270889"/>
                  </a:cubicBezTo>
                  <a:close/>
                </a:path>
              </a:pathLst>
            </a:custGeom>
            <a:solidFill>
              <a:srgbClr val="433550"/>
            </a:solidFill>
            <a:ln w="12700">
              <a:solidFill>
                <a:srgbClr val="000000"/>
              </a:solidFill>
            </a:ln>
          </p:spPr>
        </p:sp>
      </p:grpSp>
      <p:sp>
        <p:nvSpPr>
          <p:cNvPr name="TextBox 18" id="18"/>
          <p:cNvSpPr txBox="true"/>
          <p:nvPr/>
        </p:nvSpPr>
        <p:spPr>
          <a:xfrm rot="0">
            <a:off x="8133759" y="6639820"/>
            <a:ext cx="3544043" cy="481012"/>
          </a:xfrm>
          <a:prstGeom prst="rect">
            <a:avLst/>
          </a:prstGeom>
        </p:spPr>
        <p:txBody>
          <a:bodyPr anchor="t" rtlCol="false" tIns="0" lIns="0" bIns="0" rIns="0">
            <a:spAutoFit/>
          </a:bodyPr>
          <a:lstStyle/>
          <a:p>
            <a:pPr algn="l">
              <a:lnSpc>
                <a:spcPts val="3437"/>
              </a:lnSpc>
            </a:pPr>
            <a:r>
              <a:rPr lang="en-US" sz="2750" b="true">
                <a:solidFill>
                  <a:srgbClr val="DAD1E6"/>
                </a:solidFill>
                <a:latin typeface="Arimo Bold"/>
                <a:ea typeface="Arimo Bold"/>
                <a:cs typeface="Arimo Bold"/>
                <a:sym typeface="Arimo Bold"/>
              </a:rPr>
              <a:t>Bermanfaat Luas</a:t>
            </a:r>
          </a:p>
        </p:txBody>
      </p:sp>
      <p:sp>
        <p:nvSpPr>
          <p:cNvPr name="TextBox 19" id="19"/>
          <p:cNvSpPr txBox="true"/>
          <p:nvPr/>
        </p:nvSpPr>
        <p:spPr>
          <a:xfrm rot="0">
            <a:off x="8133759" y="7195690"/>
            <a:ext cx="8878491" cy="548878"/>
          </a:xfrm>
          <a:prstGeom prst="rect">
            <a:avLst/>
          </a:prstGeom>
        </p:spPr>
        <p:txBody>
          <a:bodyPr anchor="t" rtlCol="false" tIns="0" lIns="0" bIns="0" rIns="0">
            <a:spAutoFit/>
          </a:bodyPr>
          <a:lstStyle/>
          <a:p>
            <a:pPr algn="l">
              <a:lnSpc>
                <a:spcPts val="3562"/>
              </a:lnSpc>
            </a:pPr>
            <a:r>
              <a:rPr lang="en-US" sz="2187">
                <a:solidFill>
                  <a:srgbClr val="DAD1E6"/>
                </a:solidFill>
                <a:latin typeface="Fira Sans"/>
                <a:ea typeface="Fira Sans"/>
                <a:cs typeface="Fira Sans"/>
                <a:sym typeface="Fira Sans"/>
              </a:rPr>
              <a:t>Membantu masyarakat menghemat pengeluaran transportasi harian.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TextBox 6" id="6"/>
          <p:cNvSpPr txBox="true"/>
          <p:nvPr/>
        </p:nvSpPr>
        <p:spPr>
          <a:xfrm rot="0">
            <a:off x="935984" y="687734"/>
            <a:ext cx="6685959" cy="883291"/>
          </a:xfrm>
          <a:prstGeom prst="rect">
            <a:avLst/>
          </a:prstGeom>
        </p:spPr>
        <p:txBody>
          <a:bodyPr anchor="t" rtlCol="false" tIns="0" lIns="0" bIns="0" rIns="0">
            <a:spAutoFit/>
          </a:bodyPr>
          <a:lstStyle/>
          <a:p>
            <a:pPr algn="l">
              <a:lnSpc>
                <a:spcPts val="6562"/>
              </a:lnSpc>
            </a:pPr>
            <a:r>
              <a:rPr lang="en-US" sz="5250" b="true">
                <a:solidFill>
                  <a:srgbClr val="F94CAF"/>
                </a:solidFill>
                <a:latin typeface="Arimo Bold"/>
                <a:ea typeface="Arimo Bold"/>
                <a:cs typeface="Arimo Bold"/>
                <a:sym typeface="Arimo Bold"/>
              </a:rPr>
              <a:t>Penutup &amp; Sumber</a:t>
            </a:r>
          </a:p>
        </p:txBody>
      </p:sp>
      <p:sp>
        <p:nvSpPr>
          <p:cNvPr name="TextBox 7" id="7"/>
          <p:cNvSpPr txBox="true"/>
          <p:nvPr/>
        </p:nvSpPr>
        <p:spPr>
          <a:xfrm rot="0">
            <a:off x="935984" y="2020043"/>
            <a:ext cx="16416042" cy="941489"/>
          </a:xfrm>
          <a:prstGeom prst="rect">
            <a:avLst/>
          </a:prstGeom>
        </p:spPr>
        <p:txBody>
          <a:bodyPr anchor="t" rtlCol="false" tIns="0" lIns="0" bIns="0" rIns="0">
            <a:spAutoFit/>
          </a:bodyPr>
          <a:lstStyle/>
          <a:p>
            <a:pPr algn="l">
              <a:lnSpc>
                <a:spcPts val="3312"/>
              </a:lnSpc>
            </a:pPr>
            <a:r>
              <a:rPr lang="en-US" sz="2062">
                <a:solidFill>
                  <a:srgbClr val="DAD1E6"/>
                </a:solidFill>
                <a:latin typeface="Fira Sans"/>
                <a:ea typeface="Fira Sans"/>
                <a:cs typeface="Fira Sans"/>
                <a:sym typeface="Fira Sans"/>
              </a:rPr>
              <a:t>Trans-It diharapkan dapat terus dikembangkan menjadi aplikasi yang handal dan bermanfaat luas bagi masyarakat pengguna TransJakarta. Kritik dan saran sangat diharapkan untuk penyempurnaan di masa mendatang.</a:t>
            </a:r>
          </a:p>
        </p:txBody>
      </p:sp>
      <p:sp>
        <p:nvSpPr>
          <p:cNvPr name="TextBox 8" id="8"/>
          <p:cNvSpPr txBox="true"/>
          <p:nvPr/>
        </p:nvSpPr>
        <p:spPr>
          <a:xfrm rot="0">
            <a:off x="935984" y="3324520"/>
            <a:ext cx="4011511" cy="539353"/>
          </a:xfrm>
          <a:prstGeom prst="rect">
            <a:avLst/>
          </a:prstGeom>
        </p:spPr>
        <p:txBody>
          <a:bodyPr anchor="t" rtlCol="false" tIns="0" lIns="0" bIns="0" rIns="0">
            <a:spAutoFit/>
          </a:bodyPr>
          <a:lstStyle/>
          <a:p>
            <a:pPr algn="l">
              <a:lnSpc>
                <a:spcPts val="3937"/>
              </a:lnSpc>
            </a:pPr>
            <a:r>
              <a:rPr lang="en-US" sz="3125" b="true">
                <a:solidFill>
                  <a:srgbClr val="F94CAF"/>
                </a:solidFill>
                <a:latin typeface="Arimo Bold"/>
                <a:ea typeface="Arimo Bold"/>
                <a:cs typeface="Arimo Bold"/>
                <a:sym typeface="Arimo Bold"/>
              </a:rPr>
              <a:t>Akses &amp; Repositori:</a:t>
            </a:r>
          </a:p>
        </p:txBody>
      </p:sp>
      <p:sp>
        <p:nvSpPr>
          <p:cNvPr name="TextBox 9" id="9"/>
          <p:cNvSpPr txBox="true"/>
          <p:nvPr/>
        </p:nvSpPr>
        <p:spPr>
          <a:xfrm rot="0">
            <a:off x="935984" y="4179246"/>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u="sng">
                <a:solidFill>
                  <a:srgbClr val="F94CAF"/>
                </a:solidFill>
                <a:latin typeface="Fira Sans"/>
                <a:ea typeface="Fira Sans"/>
                <a:cs typeface="Fira Sans"/>
                <a:sym typeface="Fira Sans"/>
                <a:hlinkClick r:id="rId3" tooltip="https://transit.ze4.me"/>
              </a:rPr>
              <a:t>Aplikasi Web (Live Demo)</a:t>
            </a:r>
          </a:p>
        </p:txBody>
      </p:sp>
      <p:sp>
        <p:nvSpPr>
          <p:cNvPr name="TextBox 10" id="10"/>
          <p:cNvSpPr txBox="true"/>
          <p:nvPr/>
        </p:nvSpPr>
        <p:spPr>
          <a:xfrm rot="0">
            <a:off x="935984" y="4700587"/>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u="sng">
                <a:solidFill>
                  <a:srgbClr val="F94CAF"/>
                </a:solidFill>
                <a:latin typeface="Fira Sans"/>
                <a:ea typeface="Fira Sans"/>
                <a:cs typeface="Fira Sans"/>
                <a:sym typeface="Fira Sans"/>
                <a:hlinkClick r:id="rId4" tooltip="https://github.com/ujangPNG/trans-it"/>
              </a:rPr>
              <a:t>Repositori Kode (GitHub)</a:t>
            </a:r>
          </a:p>
        </p:txBody>
      </p:sp>
      <p:sp>
        <p:nvSpPr>
          <p:cNvPr name="TextBox 11" id="11"/>
          <p:cNvSpPr txBox="true"/>
          <p:nvPr/>
        </p:nvSpPr>
        <p:spPr>
          <a:xfrm rot="0">
            <a:off x="935984" y="5577183"/>
            <a:ext cx="4011511" cy="539353"/>
          </a:xfrm>
          <a:prstGeom prst="rect">
            <a:avLst/>
          </a:prstGeom>
        </p:spPr>
        <p:txBody>
          <a:bodyPr anchor="t" rtlCol="false" tIns="0" lIns="0" bIns="0" rIns="0">
            <a:spAutoFit/>
          </a:bodyPr>
          <a:lstStyle/>
          <a:p>
            <a:pPr algn="l">
              <a:lnSpc>
                <a:spcPts val="3937"/>
              </a:lnSpc>
            </a:pPr>
            <a:r>
              <a:rPr lang="en-US" sz="3125" b="true">
                <a:solidFill>
                  <a:srgbClr val="F94CAF"/>
                </a:solidFill>
                <a:latin typeface="Arimo Bold"/>
                <a:ea typeface="Arimo Bold"/>
                <a:cs typeface="Arimo Bold"/>
                <a:sym typeface="Arimo Bold"/>
              </a:rPr>
              <a:t>Daftar Pustaka:</a:t>
            </a:r>
          </a:p>
        </p:txBody>
      </p:sp>
      <p:sp>
        <p:nvSpPr>
          <p:cNvPr name="TextBox 12" id="12"/>
          <p:cNvSpPr txBox="true"/>
          <p:nvPr/>
        </p:nvSpPr>
        <p:spPr>
          <a:xfrm rot="0">
            <a:off x="935984" y="6431909"/>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a:solidFill>
                  <a:srgbClr val="DAD1E6"/>
                </a:solidFill>
                <a:latin typeface="Fira Sans"/>
                <a:ea typeface="Fira Sans"/>
                <a:cs typeface="Fira Sans"/>
                <a:sym typeface="Fira Sans"/>
              </a:rPr>
              <a:t>PT Transportasi Jakarta. (2025). TransJakarta GTFS Data.</a:t>
            </a:r>
          </a:p>
        </p:txBody>
      </p:sp>
      <p:sp>
        <p:nvSpPr>
          <p:cNvPr name="TextBox 13" id="13"/>
          <p:cNvSpPr txBox="true"/>
          <p:nvPr/>
        </p:nvSpPr>
        <p:spPr>
          <a:xfrm rot="0">
            <a:off x="935984" y="6953250"/>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a:solidFill>
                  <a:srgbClr val="DAD1E6"/>
                </a:solidFill>
                <a:latin typeface="Fira Sans"/>
                <a:ea typeface="Fira Sans"/>
                <a:cs typeface="Fira Sans"/>
                <a:sym typeface="Fira Sans"/>
              </a:rPr>
              <a:t>The Algorithms. (2024). Dijkstra Algorithm Implementation in Python.</a:t>
            </a:r>
          </a:p>
        </p:txBody>
      </p:sp>
      <p:sp>
        <p:nvSpPr>
          <p:cNvPr name="TextBox 14" id="14"/>
          <p:cNvSpPr txBox="true"/>
          <p:nvPr/>
        </p:nvSpPr>
        <p:spPr>
          <a:xfrm rot="0">
            <a:off x="935984" y="7474591"/>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a:solidFill>
                  <a:srgbClr val="DAD1E6"/>
                </a:solidFill>
                <a:latin typeface="Fira Sans"/>
                <a:ea typeface="Fira Sans"/>
                <a:cs typeface="Fira Sans"/>
                <a:sym typeface="Fira Sans"/>
              </a:rPr>
              <a:t>Hagberg, A., Swart, P., &amp; Schult, D. (2008). NetworkX: Network Analysis in Python.</a:t>
            </a:r>
          </a:p>
        </p:txBody>
      </p:sp>
      <p:sp>
        <p:nvSpPr>
          <p:cNvPr name="TextBox 15" id="15"/>
          <p:cNvSpPr txBox="true"/>
          <p:nvPr/>
        </p:nvSpPr>
        <p:spPr>
          <a:xfrm rot="0">
            <a:off x="935984" y="7995942"/>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a:solidFill>
                  <a:srgbClr val="DAD1E6"/>
                </a:solidFill>
                <a:latin typeface="Fira Sans"/>
                <a:ea typeface="Fira Sans"/>
                <a:cs typeface="Fira Sans"/>
                <a:sym typeface="Fira Sans"/>
              </a:rPr>
              <a:t>Ramírez, S. (2024). FastAPI: Web Framework for Building APIs with Python.</a:t>
            </a:r>
          </a:p>
        </p:txBody>
      </p:sp>
      <p:sp>
        <p:nvSpPr>
          <p:cNvPr name="TextBox 16" id="16"/>
          <p:cNvSpPr txBox="true"/>
          <p:nvPr/>
        </p:nvSpPr>
        <p:spPr>
          <a:xfrm rot="0">
            <a:off x="935984" y="8517284"/>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a:solidFill>
                  <a:srgbClr val="DAD1E6"/>
                </a:solidFill>
                <a:latin typeface="Fira Sans"/>
                <a:ea typeface="Fira Sans"/>
                <a:cs typeface="Fira Sans"/>
                <a:sym typeface="Fira Sans"/>
              </a:rPr>
              <a:t>Vercel. (2024). Next.js Documentation.</a:t>
            </a:r>
          </a:p>
        </p:txBody>
      </p:sp>
      <p:sp>
        <p:nvSpPr>
          <p:cNvPr name="TextBox 17" id="17"/>
          <p:cNvSpPr txBox="true"/>
          <p:nvPr/>
        </p:nvSpPr>
        <p:spPr>
          <a:xfrm rot="0">
            <a:off x="935984" y="9038634"/>
            <a:ext cx="16416042" cy="513607"/>
          </a:xfrm>
          <a:prstGeom prst="rect">
            <a:avLst/>
          </a:prstGeom>
        </p:spPr>
        <p:txBody>
          <a:bodyPr anchor="t" rtlCol="false" tIns="0" lIns="0" bIns="0" rIns="0">
            <a:spAutoFit/>
          </a:bodyPr>
          <a:lstStyle/>
          <a:p>
            <a:pPr algn="l" marL="311051" indent="-155525" lvl="1">
              <a:lnSpc>
                <a:spcPts val="3312"/>
              </a:lnSpc>
              <a:buFont typeface="Arial"/>
              <a:buChar char="•"/>
            </a:pPr>
            <a:r>
              <a:rPr lang="en-US" sz="2062">
                <a:solidFill>
                  <a:srgbClr val="DAD1E6"/>
                </a:solidFill>
                <a:latin typeface="Fira Sans"/>
                <a:ea typeface="Fira Sans"/>
                <a:cs typeface="Fira Sans"/>
                <a:sym typeface="Fira Sans"/>
              </a:rPr>
              <a:t>OpenStreetMap Contributors. (2025). OpenStreetMap Data.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0C17"/>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41631"/>
            </a:solidFill>
            <a:ln w="12700">
              <a:solidFill>
                <a:srgbClr val="000000"/>
              </a:solidFill>
            </a:ln>
          </p:spPr>
        </p:sp>
      </p:grpSp>
      <p:sp>
        <p:nvSpPr>
          <p:cNvPr name="TextBox 6" id="6"/>
          <p:cNvSpPr txBox="true"/>
          <p:nvPr/>
        </p:nvSpPr>
        <p:spPr>
          <a:xfrm rot="0">
            <a:off x="801138" y="581920"/>
            <a:ext cx="5723182" cy="763038"/>
          </a:xfrm>
          <a:prstGeom prst="rect">
            <a:avLst/>
          </a:prstGeom>
        </p:spPr>
        <p:txBody>
          <a:bodyPr anchor="t" rtlCol="false" tIns="0" lIns="0" bIns="0" rIns="0">
            <a:spAutoFit/>
          </a:bodyPr>
          <a:lstStyle/>
          <a:p>
            <a:pPr algn="l">
              <a:lnSpc>
                <a:spcPts val="5625"/>
              </a:lnSpc>
            </a:pPr>
            <a:r>
              <a:rPr lang="en-US" sz="4499" b="true">
                <a:solidFill>
                  <a:srgbClr val="F94CAF"/>
                </a:solidFill>
                <a:latin typeface="Arimo Bold"/>
                <a:ea typeface="Arimo Bold"/>
                <a:cs typeface="Arimo Bold"/>
                <a:sym typeface="Arimo Bold"/>
              </a:rPr>
              <a:t>Terima Kasih</a:t>
            </a:r>
          </a:p>
        </p:txBody>
      </p:sp>
      <p:sp>
        <p:nvSpPr>
          <p:cNvPr name="TextBox 7" id="7"/>
          <p:cNvSpPr txBox="true"/>
          <p:nvPr/>
        </p:nvSpPr>
        <p:spPr>
          <a:xfrm rot="0">
            <a:off x="801138" y="1612106"/>
            <a:ext cx="16685714" cy="808434"/>
          </a:xfrm>
          <a:prstGeom prst="rect">
            <a:avLst/>
          </a:prstGeom>
        </p:spPr>
        <p:txBody>
          <a:bodyPr anchor="t" rtlCol="false" tIns="0" lIns="0" bIns="0" rIns="0">
            <a:spAutoFit/>
          </a:bodyPr>
          <a:lstStyle/>
          <a:p>
            <a:pPr algn="l">
              <a:lnSpc>
                <a:spcPts val="2874"/>
              </a:lnSpc>
            </a:pPr>
            <a:r>
              <a:rPr lang="en-US" sz="1750">
                <a:solidFill>
                  <a:srgbClr val="DAD1E6"/>
                </a:solidFill>
                <a:latin typeface="Fira Sans"/>
                <a:ea typeface="Fira Sans"/>
                <a:cs typeface="Fira Sans"/>
                <a:sym typeface="Fira Sans"/>
              </a:rPr>
              <a:t>Terima kasih atas perhatian Anda. Kami mengundang Anda untuk mencoba Trans-It dan merasakan sendiri kemudahan serta penghematan dalam perjalanan Anda.</a:t>
            </a:r>
          </a:p>
        </p:txBody>
      </p:sp>
      <p:sp>
        <p:nvSpPr>
          <p:cNvPr name="Freeform 8" id="8" descr="preencoded.png">
            <a:hlinkClick r:id="rId4" tooltip="https://transit.ze4.me"/>
          </p:cNvPr>
          <p:cNvSpPr/>
          <p:nvPr/>
        </p:nvSpPr>
        <p:spPr>
          <a:xfrm flipH="false" flipV="false" rot="0">
            <a:off x="801138" y="2678011"/>
            <a:ext cx="4396378" cy="629545"/>
          </a:xfrm>
          <a:custGeom>
            <a:avLst/>
            <a:gdLst/>
            <a:ahLst/>
            <a:cxnLst/>
            <a:rect r="r" b="b" t="t" l="l"/>
            <a:pathLst>
              <a:path h="629545" w="4396378">
                <a:moveTo>
                  <a:pt x="0" y="0"/>
                </a:moveTo>
                <a:lnTo>
                  <a:pt x="4396378" y="0"/>
                </a:lnTo>
                <a:lnTo>
                  <a:pt x="4396378" y="629545"/>
                </a:lnTo>
                <a:lnTo>
                  <a:pt x="0" y="629545"/>
                </a:lnTo>
                <a:lnTo>
                  <a:pt x="0" y="0"/>
                </a:lnTo>
                <a:close/>
              </a:path>
            </a:pathLst>
          </a:custGeom>
          <a:blipFill>
            <a:blip r:embed="rId3"/>
            <a:stretch>
              <a:fillRect l="-118" t="0" r="-118" b="0"/>
            </a:stretch>
          </a:blipFill>
        </p:spPr>
      </p:sp>
      <p:sp>
        <p:nvSpPr>
          <p:cNvPr name="Freeform 9" id="9" descr="preencoded.png">
            <a:hlinkClick r:id="rId6" tooltip="https://github.com/ujangPNG/trans-it"/>
          </p:cNvPr>
          <p:cNvSpPr/>
          <p:nvPr/>
        </p:nvSpPr>
        <p:spPr>
          <a:xfrm flipH="false" flipV="false" rot="0">
            <a:off x="5311978" y="2678011"/>
            <a:ext cx="5144243" cy="629545"/>
          </a:xfrm>
          <a:custGeom>
            <a:avLst/>
            <a:gdLst/>
            <a:ahLst/>
            <a:cxnLst/>
            <a:rect r="r" b="b" t="t" l="l"/>
            <a:pathLst>
              <a:path h="629545" w="5144243">
                <a:moveTo>
                  <a:pt x="0" y="0"/>
                </a:moveTo>
                <a:lnTo>
                  <a:pt x="5144243" y="0"/>
                </a:lnTo>
                <a:lnTo>
                  <a:pt x="5144243" y="629545"/>
                </a:lnTo>
                <a:lnTo>
                  <a:pt x="0" y="629545"/>
                </a:lnTo>
                <a:lnTo>
                  <a:pt x="0" y="0"/>
                </a:lnTo>
                <a:close/>
              </a:path>
            </a:pathLst>
          </a:custGeom>
          <a:blipFill>
            <a:blip r:embed="rId5"/>
            <a:stretch>
              <a:fillRect l="-63" t="0" r="-63" b="0"/>
            </a:stretch>
          </a:blipFill>
        </p:spPr>
      </p:sp>
      <p:sp>
        <p:nvSpPr>
          <p:cNvPr name="Freeform 10" id="10" descr="preencoded.png"/>
          <p:cNvSpPr/>
          <p:nvPr/>
        </p:nvSpPr>
        <p:spPr>
          <a:xfrm flipH="false" flipV="false" rot="0">
            <a:off x="0" y="3565027"/>
            <a:ext cx="18288000" cy="6721973"/>
          </a:xfrm>
          <a:custGeom>
            <a:avLst/>
            <a:gdLst/>
            <a:ahLst/>
            <a:cxnLst/>
            <a:rect r="r" b="b" t="t" l="l"/>
            <a:pathLst>
              <a:path h="6721973" w="18288000">
                <a:moveTo>
                  <a:pt x="0" y="0"/>
                </a:moveTo>
                <a:lnTo>
                  <a:pt x="18288000" y="0"/>
                </a:lnTo>
                <a:lnTo>
                  <a:pt x="18288000" y="6721973"/>
                </a:lnTo>
                <a:lnTo>
                  <a:pt x="0" y="6721973"/>
                </a:lnTo>
                <a:lnTo>
                  <a:pt x="0" y="0"/>
                </a:lnTo>
                <a:close/>
              </a:path>
            </a:pathLst>
          </a:custGeom>
          <a:blipFill>
            <a:blip r:embed="rId7"/>
            <a:stretch>
              <a:fillRect l="0" t="-468" r="0" b="-468"/>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DAG9L9Ir5NY</dc:identifier>
  <dcterms:modified xsi:type="dcterms:W3CDTF">2011-08-01T06:04:30Z</dcterms:modified>
  <cp:revision>1</cp:revision>
  <dc:title>Trans-It.pptx</dc:title>
</cp:coreProperties>
</file>